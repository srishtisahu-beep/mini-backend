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301" r:id="rId4"/>
    <p:sldId id="303" r:id="rId5"/>
    <p:sldId id="292" r:id="rId6"/>
    <p:sldId id="293" r:id="rId7"/>
    <p:sldId id="316" r:id="rId8"/>
    <p:sldId id="296" r:id="rId9"/>
    <p:sldId id="278" r:id="rId10"/>
    <p:sldId id="297" r:id="rId11"/>
    <p:sldId id="315" r:id="rId12"/>
    <p:sldId id="320" r:id="rId13"/>
    <p:sldId id="288" r:id="rId14"/>
    <p:sldId id="289" r:id="rId15"/>
    <p:sldId id="305" r:id="rId16"/>
    <p:sldId id="298" r:id="rId17"/>
    <p:sldId id="306" r:id="rId18"/>
    <p:sldId id="274" r:id="rId19"/>
    <p:sldId id="275" r:id="rId20"/>
    <p:sldId id="317" r:id="rId21"/>
    <p:sldId id="318" r:id="rId22"/>
    <p:sldId id="272" r:id="rId23"/>
  </p:sldIdLst>
  <p:sldSz cx="5761038" cy="3240088"/>
  <p:notesSz cx="6858000" cy="9144000"/>
  <p:defaultTextStyle>
    <a:defPPr>
      <a:defRPr lang="en-US"/>
    </a:defPPr>
    <a:lvl1pPr marL="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717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1435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7152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02870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8587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54305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80022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05740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708" y="-72"/>
      </p:cViewPr>
      <p:guideLst>
        <p:guide orient="horz" pos="1021"/>
        <p:guide pos="1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C70A3C-CAD2-4AEC-B1D8-10F67ADD54B8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5CDFA2A-B80D-4E36-B4AD-8F9C648F5F36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Cumulative Bonus Super</a:t>
          </a:r>
        </a:p>
        <a:p>
          <a:r>
            <a:rPr lang="en-US" sz="500" dirty="0" smtClean="0">
              <a:latin typeface="+mj-lt"/>
            </a:rPr>
            <a:t>Up to 100% increase in SI every year Max increase 500%</a:t>
          </a:r>
          <a:endParaRPr lang="en-IN" sz="500" dirty="0">
            <a:latin typeface="+mj-lt"/>
          </a:endParaRPr>
        </a:p>
      </dgm:t>
    </dgm:pt>
    <dgm:pt modelId="{CD56F668-5961-4C92-86A6-D0D601657769}" type="parTrans" cxnId="{E8E7870B-BAAA-488A-8069-B4791585CFC1}">
      <dgm:prSet/>
      <dgm:spPr/>
      <dgm:t>
        <a:bodyPr/>
        <a:lstStyle/>
        <a:p>
          <a:endParaRPr lang="en-IN" sz="600"/>
        </a:p>
      </dgm:t>
    </dgm:pt>
    <dgm:pt modelId="{5EF2E7BA-B46E-48E9-9E8A-B44F3794749D}" type="sibTrans" cxnId="{E8E7870B-BAAA-488A-8069-B4791585CFC1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620B6B86-9210-4AFD-B9CA-9F665878E0B7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Cumulative Bonus Booster</a:t>
          </a:r>
        </a:p>
        <a:p>
          <a:r>
            <a:rPr lang="en-US" sz="400" dirty="0" smtClean="0"/>
            <a:t>100% of Base Sum Insured per year irre</a:t>
          </a:r>
          <a:r>
            <a:rPr lang="en-US" sz="500" dirty="0" smtClean="0"/>
            <a:t>spective of claim for unlimited times on continuous renewal of policy</a:t>
          </a:r>
          <a:endParaRPr lang="en-US" sz="500" dirty="0" smtClean="0">
            <a:latin typeface="+mj-lt"/>
          </a:endParaRPr>
        </a:p>
      </dgm:t>
    </dgm:pt>
    <dgm:pt modelId="{3C2A7B14-93EC-45DF-81F4-1DE961BF726A}" type="parTrans" cxnId="{4C5F99D3-3BF1-495E-B54D-ECDC39A8393D}">
      <dgm:prSet/>
      <dgm:spPr/>
      <dgm:t>
        <a:bodyPr/>
        <a:lstStyle/>
        <a:p>
          <a:endParaRPr lang="en-IN" sz="600"/>
        </a:p>
      </dgm:t>
    </dgm:pt>
    <dgm:pt modelId="{253557EA-0633-4F71-BE4C-A719A4E6A685}" type="sibTrans" cxnId="{4C5F99D3-3BF1-495E-B54D-ECDC39A8393D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FE1ECD6C-6F19-4F02-8BEC-33CE6934C768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Air Ambulance</a:t>
          </a:r>
        </a:p>
        <a:p>
          <a:r>
            <a:rPr lang="en-US" sz="500" dirty="0" smtClean="0">
              <a:latin typeface="+mj-lt"/>
            </a:rPr>
            <a:t>Up to 5Lac</a:t>
          </a:r>
          <a:endParaRPr lang="en-IN" sz="500" dirty="0">
            <a:latin typeface="+mj-lt"/>
          </a:endParaRPr>
        </a:p>
      </dgm:t>
    </dgm:pt>
    <dgm:pt modelId="{DBADC0D7-1011-46AE-BE75-F189B59D8562}" type="parTrans" cxnId="{62C03E13-360D-49C6-99F6-E5C6AE07F4E7}">
      <dgm:prSet/>
      <dgm:spPr/>
      <dgm:t>
        <a:bodyPr/>
        <a:lstStyle/>
        <a:p>
          <a:endParaRPr lang="en-IN" sz="600"/>
        </a:p>
      </dgm:t>
    </dgm:pt>
    <dgm:pt modelId="{94C8A636-2444-40D5-A187-1388EEADBDD4}" type="sibTrans" cxnId="{62C03E13-360D-49C6-99F6-E5C6AE07F4E7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8C1C6140-A854-4C06-A95E-3DD18E0D89F5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Wellness Benefit</a:t>
          </a:r>
        </a:p>
        <a:p>
          <a:r>
            <a:rPr lang="en-US" sz="500" dirty="0" smtClean="0">
              <a:latin typeface="+mj-lt"/>
            </a:rPr>
            <a:t>Discount on renewal premium &amp; access to online fitness session</a:t>
          </a:r>
          <a:endParaRPr lang="en-IN" sz="500" dirty="0">
            <a:latin typeface="+mj-lt"/>
          </a:endParaRPr>
        </a:p>
      </dgm:t>
    </dgm:pt>
    <dgm:pt modelId="{B4B9282F-FF40-4F14-B38F-5222EFAE5CE8}" type="parTrans" cxnId="{147149CE-0EFE-45CB-A7E3-1478C72876F8}">
      <dgm:prSet/>
      <dgm:spPr/>
      <dgm:t>
        <a:bodyPr/>
        <a:lstStyle/>
        <a:p>
          <a:endParaRPr lang="en-IN" sz="600"/>
        </a:p>
      </dgm:t>
    </dgm:pt>
    <dgm:pt modelId="{F47E5D7D-B629-49FB-BAF5-6F8964DF752D}" type="sibTrans" cxnId="{147149CE-0EFE-45CB-A7E3-1478C72876F8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31E3C418-3CD9-4EEC-A271-854A05F5C03D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Modification of PED Wait Period</a:t>
          </a:r>
        </a:p>
        <a:p>
          <a:r>
            <a:rPr lang="en-US" sz="500" dirty="0" smtClean="0">
              <a:latin typeface="+mj-lt"/>
            </a:rPr>
            <a:t>PED wait period will be modified to </a:t>
          </a:r>
        </a:p>
        <a:p>
          <a:r>
            <a:rPr lang="en-US" sz="500" dirty="0" smtClean="0">
              <a:latin typeface="+mj-lt"/>
            </a:rPr>
            <a:t>1 year or 2 years as opted</a:t>
          </a:r>
          <a:endParaRPr lang="en-IN" sz="500" dirty="0">
            <a:latin typeface="+mj-lt"/>
          </a:endParaRPr>
        </a:p>
      </dgm:t>
    </dgm:pt>
    <dgm:pt modelId="{6FAFC1D5-DDC3-4061-90F0-23BC4EC2B2A5}" type="parTrans" cxnId="{767D02A9-2E7E-48A6-9A06-C63BB4C5CEB7}">
      <dgm:prSet/>
      <dgm:spPr/>
      <dgm:t>
        <a:bodyPr/>
        <a:lstStyle/>
        <a:p>
          <a:endParaRPr lang="en-IN" sz="600"/>
        </a:p>
      </dgm:t>
    </dgm:pt>
    <dgm:pt modelId="{E5C0E9FD-2500-4CE6-89E4-01C8FA6C8616}" type="sibTrans" cxnId="{767D02A9-2E7E-48A6-9A06-C63BB4C5CEB7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E426E1FB-3045-4392-BA75-B86702E2FA18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Annual Health Check--up</a:t>
          </a:r>
        </a:p>
        <a:p>
          <a:r>
            <a:rPr lang="en-US" sz="500" dirty="0" smtClean="0">
              <a:latin typeface="+mj-lt"/>
            </a:rPr>
            <a:t>Once every year for all insured members</a:t>
          </a:r>
          <a:endParaRPr lang="en-IN" sz="500" dirty="0">
            <a:latin typeface="+mj-lt"/>
          </a:endParaRPr>
        </a:p>
      </dgm:t>
    </dgm:pt>
    <dgm:pt modelId="{2365EE56-40A9-4433-BA72-DE3C85519B78}" type="parTrans" cxnId="{C00E016B-E49F-44BE-A040-9CFAF427F957}">
      <dgm:prSet/>
      <dgm:spPr/>
      <dgm:t>
        <a:bodyPr/>
        <a:lstStyle/>
        <a:p>
          <a:endParaRPr lang="en-IN" sz="600"/>
        </a:p>
      </dgm:t>
    </dgm:pt>
    <dgm:pt modelId="{8466A34D-20AD-4AC7-9BA1-7F10A0AAFEF6}" type="sibTrans" cxnId="{C00E016B-E49F-44BE-A040-9CFAF427F957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770D129C-894F-49CC-9BC9-29E88B296D17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Unlimited Care</a:t>
          </a:r>
        </a:p>
        <a:p>
          <a:r>
            <a:rPr lang="en-US" sz="500" dirty="0" smtClean="0">
              <a:latin typeface="+mj-lt"/>
            </a:rPr>
            <a:t>Any one claim during the lifetime of the policy without any limit on sum insured</a:t>
          </a:r>
          <a:endParaRPr lang="en-IN" sz="500" dirty="0">
            <a:latin typeface="+mj-lt"/>
          </a:endParaRPr>
        </a:p>
      </dgm:t>
    </dgm:pt>
    <dgm:pt modelId="{CC49B606-F1EA-4814-9D83-890C8B1A9E86}" type="parTrans" cxnId="{952D2CC3-F2F0-4446-8A6F-8942BDB2739B}">
      <dgm:prSet/>
      <dgm:spPr/>
      <dgm:t>
        <a:bodyPr/>
        <a:lstStyle/>
        <a:p>
          <a:endParaRPr lang="en-IN" sz="600"/>
        </a:p>
      </dgm:t>
    </dgm:pt>
    <dgm:pt modelId="{2661DF69-4FE2-43FB-8811-C932F87EB14C}" type="sibTrans" cxnId="{952D2CC3-F2F0-4446-8A6F-8942BDB2739B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85AAA42C-C5CF-4146-B8B1-52CF66AE92F1}">
      <dgm:prSet phldrT="[Text]" custT="1"/>
      <dgm:spPr>
        <a:solidFill>
          <a:srgbClr val="0070C0"/>
        </a:solidFill>
      </dgm:spPr>
      <dgm:t>
        <a:bodyPr/>
        <a:lstStyle/>
        <a:p>
          <a:pPr algn="l"/>
          <a:r>
            <a:rPr lang="en-US" sz="600" b="1" dirty="0" smtClean="0">
              <a:latin typeface="+mj-lt"/>
            </a:rPr>
            <a:t>Claim Shield: </a:t>
          </a:r>
          <a:r>
            <a:rPr lang="en-US" sz="500" dirty="0" smtClean="0">
              <a:latin typeface="+mj-lt"/>
            </a:rPr>
            <a:t>Coverage of expense related to 68 non-payable  items during hospitalization</a:t>
          </a:r>
        </a:p>
        <a:p>
          <a:pPr algn="l"/>
          <a:r>
            <a:rPr lang="en-US" sz="600" b="1" dirty="0" smtClean="0">
              <a:latin typeface="+mj-lt"/>
              <a:cs typeface="Calibri Light" pitchFamily="34" charset="0"/>
            </a:rPr>
            <a:t>Claim Shield + </a:t>
          </a:r>
          <a:r>
            <a:rPr lang="en-US" sz="500" dirty="0" smtClean="0">
              <a:latin typeface="+mj-lt"/>
              <a:cs typeface="Calibri Light" pitchFamily="34" charset="0"/>
            </a:rPr>
            <a:t>List of items as per annexure I (list I, II, III and IV) that are non-payable shall be covered</a:t>
          </a:r>
          <a:endParaRPr lang="en-US" sz="500" b="1" dirty="0" smtClean="0">
            <a:latin typeface="+mj-lt"/>
            <a:cs typeface="Calibri Light" pitchFamily="34" charset="0"/>
          </a:endParaRPr>
        </a:p>
      </dgm:t>
    </dgm:pt>
    <dgm:pt modelId="{B422DA79-F39B-4D76-9DB2-CAEA76DD39ED}" type="parTrans" cxnId="{F467888E-DCE2-4CA5-999A-EE36F9924319}">
      <dgm:prSet/>
      <dgm:spPr/>
      <dgm:t>
        <a:bodyPr/>
        <a:lstStyle/>
        <a:p>
          <a:endParaRPr lang="en-IN" sz="600"/>
        </a:p>
      </dgm:t>
    </dgm:pt>
    <dgm:pt modelId="{DF037FF9-67BE-46C1-AD0E-229BAC00B288}" type="sibTrans" cxnId="{F467888E-DCE2-4CA5-999A-EE36F9924319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B7E3DECB-1C44-4FD5-8ABF-6DC803349307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Be-fit</a:t>
          </a:r>
        </a:p>
        <a:p>
          <a:r>
            <a:rPr lang="en-US" sz="500" dirty="0" smtClean="0">
              <a:latin typeface="+mj-lt"/>
            </a:rPr>
            <a:t>Avail access to gyms unlimited times in a policy year. Only applicable for insured person above 12 years of age</a:t>
          </a:r>
          <a:endParaRPr lang="en-IN" sz="500" dirty="0">
            <a:latin typeface="+mj-lt"/>
          </a:endParaRPr>
        </a:p>
      </dgm:t>
    </dgm:pt>
    <dgm:pt modelId="{7415B7A7-F12C-4F9B-8EDB-682474DF35BE}" type="parTrans" cxnId="{02EA9279-64D4-4F7E-8F01-624F0A52AC72}">
      <dgm:prSet/>
      <dgm:spPr/>
      <dgm:t>
        <a:bodyPr/>
        <a:lstStyle/>
        <a:p>
          <a:endParaRPr lang="en-IN" sz="600"/>
        </a:p>
      </dgm:t>
    </dgm:pt>
    <dgm:pt modelId="{7D28F84E-F3D3-4819-9E4F-61CAA678D14E}" type="sibTrans" cxnId="{02EA9279-64D4-4F7E-8F01-624F0A52AC72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19D54415-5701-4EBB-96E1-718E4DE8B1D9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Care OPD</a:t>
          </a:r>
        </a:p>
        <a:p>
          <a:r>
            <a:rPr lang="en-US" sz="500" dirty="0" smtClean="0">
              <a:latin typeface="Calibri Light" panose="020F0302020204030204" pitchFamily="34" charset="0"/>
              <a:cs typeface="Calibri Light" panose="020F0302020204030204" pitchFamily="34" charset="0"/>
            </a:rPr>
            <a:t>4 Physical Consultations from a General Physician &amp; Specialist each per insured max up to 500/-per consultation</a:t>
          </a:r>
          <a:endParaRPr lang="en-IN" sz="500" dirty="0">
            <a:latin typeface="+mj-lt"/>
          </a:endParaRPr>
        </a:p>
      </dgm:t>
    </dgm:pt>
    <dgm:pt modelId="{95773790-4F71-468C-A34E-26268758440E}" type="parTrans" cxnId="{C0CDCD28-9A8E-4FB5-9A70-A93CD673F1FB}">
      <dgm:prSet/>
      <dgm:spPr/>
      <dgm:t>
        <a:bodyPr/>
        <a:lstStyle/>
        <a:p>
          <a:endParaRPr lang="en-IN" sz="600"/>
        </a:p>
      </dgm:t>
    </dgm:pt>
    <dgm:pt modelId="{7B552338-5DA6-4309-ABE0-85DDEC907D98}" type="sibTrans" cxnId="{C0CDCD28-9A8E-4FB5-9A70-A93CD673F1FB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739311CE-67D8-4966-9279-4D62E3CB8FDB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  <a:cs typeface="Calibri Light" pitchFamily="34" charset="0"/>
            </a:rPr>
            <a:t>Instant Cover and Instant Cover Plus</a:t>
          </a:r>
        </a:p>
        <a:p>
          <a:r>
            <a:rPr lang="en-US" sz="500" b="0" dirty="0" smtClean="0">
              <a:latin typeface="+mj-lt"/>
              <a:cs typeface="Calibri Light" pitchFamily="34" charset="0"/>
            </a:rPr>
            <a:t>PED Waiting period reduced to 30 days for </a:t>
          </a:r>
        </a:p>
        <a:p>
          <a:r>
            <a:rPr lang="en-US" sz="500" b="0" dirty="0" smtClean="0">
              <a:latin typeface="+mj-lt"/>
              <a:cs typeface="Calibri Light" pitchFamily="34" charset="0"/>
            </a:rPr>
            <a:t>specified declared PEDs in policy</a:t>
          </a:r>
        </a:p>
      </dgm:t>
    </dgm:pt>
    <dgm:pt modelId="{70B77A3B-9DF4-49B9-892C-4322BD3200E1}" type="parTrans" cxnId="{063712EF-60CD-4197-A01E-3292BE084CE0}">
      <dgm:prSet/>
      <dgm:spPr/>
      <dgm:t>
        <a:bodyPr/>
        <a:lstStyle/>
        <a:p>
          <a:endParaRPr lang="en-IN" sz="600"/>
        </a:p>
      </dgm:t>
    </dgm:pt>
    <dgm:pt modelId="{582DBA4A-4086-4769-B0BE-2C4980A9ED4F}" type="sibTrans" cxnId="{063712EF-60CD-4197-A01E-3292BE084CE0}">
      <dgm:prSet/>
      <dgm:spPr>
        <a:solidFill>
          <a:srgbClr val="0070C0"/>
        </a:solidFill>
      </dgm:spPr>
      <dgm:t>
        <a:bodyPr/>
        <a:lstStyle/>
        <a:p>
          <a:endParaRPr lang="en-IN" sz="600">
            <a:latin typeface="+mj-lt"/>
          </a:endParaRPr>
        </a:p>
      </dgm:t>
    </dgm:pt>
    <dgm:pt modelId="{DF6B7FE9-8009-4E54-AD03-D97F578F4F07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600" b="1" dirty="0" smtClean="0">
              <a:latin typeface="+mj-lt"/>
            </a:rPr>
            <a:t>Care OPD Plus</a:t>
          </a:r>
        </a:p>
        <a:p>
          <a:r>
            <a:rPr lang="en-US" sz="500" dirty="0" smtClean="0">
              <a:latin typeface="Calibri Light" panose="020F0302020204030204" pitchFamily="34" charset="0"/>
              <a:cs typeface="Calibri Light" panose="020F0302020204030204" pitchFamily="34" charset="0"/>
            </a:rPr>
            <a:t>4 Physical Consultations with GP max 1000 per consultation; co-payment of 10% &amp; 4 Physical Consultations with 14 specified specialists max 2000 per consultation; co-payment of 5%</a:t>
          </a:r>
          <a:endParaRPr lang="en-IN" sz="500" dirty="0">
            <a:latin typeface="+mj-lt"/>
          </a:endParaRPr>
        </a:p>
      </dgm:t>
    </dgm:pt>
    <dgm:pt modelId="{67D80347-30AD-4011-9256-BCA9D8255763}" type="parTrans" cxnId="{C9C878DE-8E1A-4945-8499-480C70AC7C81}">
      <dgm:prSet/>
      <dgm:spPr/>
      <dgm:t>
        <a:bodyPr/>
        <a:lstStyle/>
        <a:p>
          <a:endParaRPr lang="en-IN" sz="600"/>
        </a:p>
      </dgm:t>
    </dgm:pt>
    <dgm:pt modelId="{95FA6719-2604-4B0F-9F9D-190160950A89}" type="sibTrans" cxnId="{C9C878DE-8E1A-4945-8499-480C70AC7C81}">
      <dgm:prSet/>
      <dgm:spPr/>
      <dgm:t>
        <a:bodyPr/>
        <a:lstStyle/>
        <a:p>
          <a:endParaRPr lang="en-IN" sz="600"/>
        </a:p>
      </dgm:t>
    </dgm:pt>
    <dgm:pt modelId="{426252E5-75ED-42D2-81DE-7ADE769F3507}" type="pres">
      <dgm:prSet presAssocID="{8CC70A3C-CAD2-4AEC-B1D8-10F67ADD54B8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IN"/>
        </a:p>
      </dgm:t>
    </dgm:pt>
    <dgm:pt modelId="{47F8A2D3-B29D-4C33-9D2B-590B49725DFB}" type="pres">
      <dgm:prSet presAssocID="{C5CDFA2A-B80D-4E36-B4AD-8F9C648F5F36}" presName="compNode" presStyleCnt="0"/>
      <dgm:spPr/>
    </dgm:pt>
    <dgm:pt modelId="{1A146C3B-893B-4868-A7D6-08B74ED51FEF}" type="pres">
      <dgm:prSet presAssocID="{C5CDFA2A-B80D-4E36-B4AD-8F9C648F5F36}" presName="dummyConnPt" presStyleCnt="0"/>
      <dgm:spPr/>
    </dgm:pt>
    <dgm:pt modelId="{4FC1965D-91E7-4D2A-8DE9-F4F4FF1BCE36}" type="pres">
      <dgm:prSet presAssocID="{C5CDFA2A-B80D-4E36-B4AD-8F9C648F5F36}" presName="node" presStyleLbl="node1" presStyleIdx="0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D64691-6765-4551-B063-52F9924FF103}" type="pres">
      <dgm:prSet presAssocID="{5EF2E7BA-B46E-48E9-9E8A-B44F3794749D}" presName="sibTrans" presStyleLbl="bgSibTrans2D1" presStyleIdx="0" presStyleCnt="11" custScaleX="156842" custScaleY="71015"/>
      <dgm:spPr/>
      <dgm:t>
        <a:bodyPr/>
        <a:lstStyle/>
        <a:p>
          <a:endParaRPr lang="en-IN"/>
        </a:p>
      </dgm:t>
    </dgm:pt>
    <dgm:pt modelId="{BA936B41-084B-456B-ADD3-25AAFAB0E7A7}" type="pres">
      <dgm:prSet presAssocID="{620B6B86-9210-4AFD-B9CA-9F665878E0B7}" presName="compNode" presStyleCnt="0"/>
      <dgm:spPr/>
    </dgm:pt>
    <dgm:pt modelId="{99E355CF-EB54-4AC8-9EEB-055FF521CE26}" type="pres">
      <dgm:prSet presAssocID="{620B6B86-9210-4AFD-B9CA-9F665878E0B7}" presName="dummyConnPt" presStyleCnt="0"/>
      <dgm:spPr/>
    </dgm:pt>
    <dgm:pt modelId="{0672947F-DC06-4A9E-8BBE-82ED7BB1695F}" type="pres">
      <dgm:prSet presAssocID="{620B6B86-9210-4AFD-B9CA-9F665878E0B7}" presName="node" presStyleLbl="node1" presStyleIdx="1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3C5D73B-60C1-4DFF-ADE5-90D70969D36D}" type="pres">
      <dgm:prSet presAssocID="{253557EA-0633-4F71-BE4C-A719A4E6A685}" presName="sibTrans" presStyleLbl="bgSibTrans2D1" presStyleIdx="1" presStyleCnt="11" custScaleX="156842" custScaleY="71015"/>
      <dgm:spPr/>
      <dgm:t>
        <a:bodyPr/>
        <a:lstStyle/>
        <a:p>
          <a:endParaRPr lang="en-IN"/>
        </a:p>
      </dgm:t>
    </dgm:pt>
    <dgm:pt modelId="{E349632D-FBCF-4F4E-A4E9-9B001982858F}" type="pres">
      <dgm:prSet presAssocID="{FE1ECD6C-6F19-4F02-8BEC-33CE6934C768}" presName="compNode" presStyleCnt="0"/>
      <dgm:spPr/>
    </dgm:pt>
    <dgm:pt modelId="{AAE00505-28CA-4B32-8B15-9171243B9786}" type="pres">
      <dgm:prSet presAssocID="{FE1ECD6C-6F19-4F02-8BEC-33CE6934C768}" presName="dummyConnPt" presStyleCnt="0"/>
      <dgm:spPr/>
    </dgm:pt>
    <dgm:pt modelId="{703BD5BB-AF85-4533-9706-32196779C405}" type="pres">
      <dgm:prSet presAssocID="{FE1ECD6C-6F19-4F02-8BEC-33CE6934C768}" presName="node" presStyleLbl="node1" presStyleIdx="2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30608B1-D8DB-47AC-9549-426ED8DB801C}" type="pres">
      <dgm:prSet presAssocID="{94C8A636-2444-40D5-A187-1388EEADBDD4}" presName="sibTrans" presStyleLbl="bgSibTrans2D1" presStyleIdx="2" presStyleCnt="11" custScaleX="156842" custScaleY="71015"/>
      <dgm:spPr/>
      <dgm:t>
        <a:bodyPr/>
        <a:lstStyle/>
        <a:p>
          <a:endParaRPr lang="en-IN"/>
        </a:p>
      </dgm:t>
    </dgm:pt>
    <dgm:pt modelId="{16994A18-CC94-4CF3-932F-758F3898E48D}" type="pres">
      <dgm:prSet presAssocID="{8C1C6140-A854-4C06-A95E-3DD18E0D89F5}" presName="compNode" presStyleCnt="0"/>
      <dgm:spPr/>
    </dgm:pt>
    <dgm:pt modelId="{CC07E114-D5D3-4FDD-A90C-3666A5CD3D95}" type="pres">
      <dgm:prSet presAssocID="{8C1C6140-A854-4C06-A95E-3DD18E0D89F5}" presName="dummyConnPt" presStyleCnt="0"/>
      <dgm:spPr/>
    </dgm:pt>
    <dgm:pt modelId="{1579B0C5-BBA6-43C0-9EA9-FCFEE7C625E4}" type="pres">
      <dgm:prSet presAssocID="{8C1C6140-A854-4C06-A95E-3DD18E0D89F5}" presName="node" presStyleLbl="node1" presStyleIdx="3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338AD9B-594E-41D4-8D95-34D11265D599}" type="pres">
      <dgm:prSet presAssocID="{F47E5D7D-B629-49FB-BAF5-6F8964DF752D}" presName="sibTrans" presStyleLbl="bgSibTrans2D1" presStyleIdx="3" presStyleCnt="11" custScaleX="156843" custScaleY="71015"/>
      <dgm:spPr/>
      <dgm:t>
        <a:bodyPr/>
        <a:lstStyle/>
        <a:p>
          <a:endParaRPr lang="en-IN"/>
        </a:p>
      </dgm:t>
    </dgm:pt>
    <dgm:pt modelId="{323FA580-1877-4265-B3E8-4F38519BFEAD}" type="pres">
      <dgm:prSet presAssocID="{31E3C418-3CD9-4EEC-A271-854A05F5C03D}" presName="compNode" presStyleCnt="0"/>
      <dgm:spPr/>
    </dgm:pt>
    <dgm:pt modelId="{9E2569D4-A0C5-459E-972F-5CDE7E62179E}" type="pres">
      <dgm:prSet presAssocID="{31E3C418-3CD9-4EEC-A271-854A05F5C03D}" presName="dummyConnPt" presStyleCnt="0"/>
      <dgm:spPr/>
    </dgm:pt>
    <dgm:pt modelId="{42F836AF-8097-4FB6-BB52-216E1C65D85B}" type="pres">
      <dgm:prSet presAssocID="{31E3C418-3CD9-4EEC-A271-854A05F5C03D}" presName="node" presStyleLbl="node1" presStyleIdx="4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5EA8050-E4A1-4E3D-AEFB-71F77A672BE6}" type="pres">
      <dgm:prSet presAssocID="{E5C0E9FD-2500-4CE6-89E4-01C8FA6C8616}" presName="sibTrans" presStyleLbl="bgSibTrans2D1" presStyleIdx="4" presStyleCnt="11" custScaleX="156842" custScaleY="71015"/>
      <dgm:spPr/>
      <dgm:t>
        <a:bodyPr/>
        <a:lstStyle/>
        <a:p>
          <a:endParaRPr lang="en-IN"/>
        </a:p>
      </dgm:t>
    </dgm:pt>
    <dgm:pt modelId="{3BE3E646-CF40-42E7-B160-33452FE6EDD6}" type="pres">
      <dgm:prSet presAssocID="{E426E1FB-3045-4392-BA75-B86702E2FA18}" presName="compNode" presStyleCnt="0"/>
      <dgm:spPr/>
    </dgm:pt>
    <dgm:pt modelId="{B0C65B59-632E-451A-B832-234228F80624}" type="pres">
      <dgm:prSet presAssocID="{E426E1FB-3045-4392-BA75-B86702E2FA18}" presName="dummyConnPt" presStyleCnt="0"/>
      <dgm:spPr/>
    </dgm:pt>
    <dgm:pt modelId="{62788631-1A1E-41FB-9B2D-FF162380FA76}" type="pres">
      <dgm:prSet presAssocID="{E426E1FB-3045-4392-BA75-B86702E2FA18}" presName="node" presStyleLbl="node1" presStyleIdx="5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23EEBB9-A9E6-453C-B158-5287BC40C316}" type="pres">
      <dgm:prSet presAssocID="{8466A34D-20AD-4AC7-9BA1-7F10A0AAFEF6}" presName="sibTrans" presStyleLbl="bgSibTrans2D1" presStyleIdx="5" presStyleCnt="11" custScaleX="156842" custScaleY="71015"/>
      <dgm:spPr/>
      <dgm:t>
        <a:bodyPr/>
        <a:lstStyle/>
        <a:p>
          <a:endParaRPr lang="en-IN"/>
        </a:p>
      </dgm:t>
    </dgm:pt>
    <dgm:pt modelId="{DF58DA5B-7BC6-4003-8376-D27D74D5E646}" type="pres">
      <dgm:prSet presAssocID="{770D129C-894F-49CC-9BC9-29E88B296D17}" presName="compNode" presStyleCnt="0"/>
      <dgm:spPr/>
    </dgm:pt>
    <dgm:pt modelId="{4FA6C146-C76B-4693-A990-EDA3376367A1}" type="pres">
      <dgm:prSet presAssocID="{770D129C-894F-49CC-9BC9-29E88B296D17}" presName="dummyConnPt" presStyleCnt="0"/>
      <dgm:spPr/>
    </dgm:pt>
    <dgm:pt modelId="{C9A9CADB-23C5-401F-BCD3-F3BDEF1248D2}" type="pres">
      <dgm:prSet presAssocID="{770D129C-894F-49CC-9BC9-29E88B296D17}" presName="node" presStyleLbl="node1" presStyleIdx="6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19DCA42-ED90-4A3F-95FB-33850CC91DE7}" type="pres">
      <dgm:prSet presAssocID="{2661DF69-4FE2-43FB-8811-C932F87EB14C}" presName="sibTrans" presStyleLbl="bgSibTrans2D1" presStyleIdx="6" presStyleCnt="11" custScaleX="156842" custScaleY="71015"/>
      <dgm:spPr/>
      <dgm:t>
        <a:bodyPr/>
        <a:lstStyle/>
        <a:p>
          <a:endParaRPr lang="en-IN"/>
        </a:p>
      </dgm:t>
    </dgm:pt>
    <dgm:pt modelId="{2A09E5F3-28DD-4856-83E7-D61DCC4FF26B}" type="pres">
      <dgm:prSet presAssocID="{85AAA42C-C5CF-4146-B8B1-52CF66AE92F1}" presName="compNode" presStyleCnt="0"/>
      <dgm:spPr/>
    </dgm:pt>
    <dgm:pt modelId="{E7220C4A-2F1A-47C0-9E7E-2443C1743BF4}" type="pres">
      <dgm:prSet presAssocID="{85AAA42C-C5CF-4146-B8B1-52CF66AE92F1}" presName="dummyConnPt" presStyleCnt="0"/>
      <dgm:spPr/>
    </dgm:pt>
    <dgm:pt modelId="{8C4BF303-E5AE-42BC-A062-7BB909F7E4B2}" type="pres">
      <dgm:prSet presAssocID="{85AAA42C-C5CF-4146-B8B1-52CF66AE92F1}" presName="node" presStyleLbl="node1" presStyleIdx="7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497066B-CBBE-4C45-9B14-48825E4AE927}" type="pres">
      <dgm:prSet presAssocID="{DF037FF9-67BE-46C1-AD0E-229BAC00B288}" presName="sibTrans" presStyleLbl="bgSibTrans2D1" presStyleIdx="7" presStyleCnt="11" custScaleX="156843" custScaleY="71015"/>
      <dgm:spPr/>
      <dgm:t>
        <a:bodyPr/>
        <a:lstStyle/>
        <a:p>
          <a:endParaRPr lang="en-IN"/>
        </a:p>
      </dgm:t>
    </dgm:pt>
    <dgm:pt modelId="{325BB62B-FBA4-4AC9-A4DE-A982C0E81347}" type="pres">
      <dgm:prSet presAssocID="{B7E3DECB-1C44-4FD5-8ABF-6DC803349307}" presName="compNode" presStyleCnt="0"/>
      <dgm:spPr/>
    </dgm:pt>
    <dgm:pt modelId="{C30D52B2-2BDF-45DC-A839-4CE4F1ECEE87}" type="pres">
      <dgm:prSet presAssocID="{B7E3DECB-1C44-4FD5-8ABF-6DC803349307}" presName="dummyConnPt" presStyleCnt="0"/>
      <dgm:spPr/>
    </dgm:pt>
    <dgm:pt modelId="{364C75D4-43FF-4A6A-B96D-1EA019CA2A9A}" type="pres">
      <dgm:prSet presAssocID="{B7E3DECB-1C44-4FD5-8ABF-6DC803349307}" presName="node" presStyleLbl="node1" presStyleIdx="8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019C2E1-060B-47AF-8691-69E0C73F0FB1}" type="pres">
      <dgm:prSet presAssocID="{7D28F84E-F3D3-4819-9E4F-61CAA678D14E}" presName="sibTrans" presStyleLbl="bgSibTrans2D1" presStyleIdx="8" presStyleCnt="11" custScaleX="156842" custScaleY="71015"/>
      <dgm:spPr/>
      <dgm:t>
        <a:bodyPr/>
        <a:lstStyle/>
        <a:p>
          <a:endParaRPr lang="en-IN"/>
        </a:p>
      </dgm:t>
    </dgm:pt>
    <dgm:pt modelId="{4DA1C6EE-8187-4677-8244-D77616200C72}" type="pres">
      <dgm:prSet presAssocID="{19D54415-5701-4EBB-96E1-718E4DE8B1D9}" presName="compNode" presStyleCnt="0"/>
      <dgm:spPr/>
    </dgm:pt>
    <dgm:pt modelId="{7F610045-1C12-4E21-A9DF-21356CCED557}" type="pres">
      <dgm:prSet presAssocID="{19D54415-5701-4EBB-96E1-718E4DE8B1D9}" presName="dummyConnPt" presStyleCnt="0"/>
      <dgm:spPr/>
    </dgm:pt>
    <dgm:pt modelId="{C1DB2EA2-8844-4040-AF37-44C425349ED5}" type="pres">
      <dgm:prSet presAssocID="{19D54415-5701-4EBB-96E1-718E4DE8B1D9}" presName="node" presStyleLbl="node1" presStyleIdx="9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CEBF0E7-5BEB-4C74-8CF0-0857311D1FC0}" type="pres">
      <dgm:prSet presAssocID="{7B552338-5DA6-4309-ABE0-85DDEC907D98}" presName="sibTrans" presStyleLbl="bgSibTrans2D1" presStyleIdx="9" presStyleCnt="11" custScaleX="156842" custScaleY="71015"/>
      <dgm:spPr/>
      <dgm:t>
        <a:bodyPr/>
        <a:lstStyle/>
        <a:p>
          <a:endParaRPr lang="en-IN"/>
        </a:p>
      </dgm:t>
    </dgm:pt>
    <dgm:pt modelId="{F916DB36-38FF-4DB4-BD83-051346613D08}" type="pres">
      <dgm:prSet presAssocID="{739311CE-67D8-4966-9279-4D62E3CB8FDB}" presName="compNode" presStyleCnt="0"/>
      <dgm:spPr/>
    </dgm:pt>
    <dgm:pt modelId="{C7229665-878B-4D73-944F-453B7B532ACA}" type="pres">
      <dgm:prSet presAssocID="{739311CE-67D8-4966-9279-4D62E3CB8FDB}" presName="dummyConnPt" presStyleCnt="0"/>
      <dgm:spPr/>
    </dgm:pt>
    <dgm:pt modelId="{EE6D3C45-0291-437C-AE11-2F80D22B17B5}" type="pres">
      <dgm:prSet presAssocID="{739311CE-67D8-4966-9279-4D62E3CB8FDB}" presName="node" presStyleLbl="node1" presStyleIdx="10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2CE7FC3-51D1-4BD9-A0D1-9D9E002EDDB2}" type="pres">
      <dgm:prSet presAssocID="{582DBA4A-4086-4769-B0BE-2C4980A9ED4F}" presName="sibTrans" presStyleLbl="bgSibTrans2D1" presStyleIdx="10" presStyleCnt="11" custScaleX="156842" custScaleY="71015"/>
      <dgm:spPr/>
      <dgm:t>
        <a:bodyPr/>
        <a:lstStyle/>
        <a:p>
          <a:endParaRPr lang="en-IN"/>
        </a:p>
      </dgm:t>
    </dgm:pt>
    <dgm:pt modelId="{396CDFFB-C4AF-41A2-9443-E98F6EFAC4F3}" type="pres">
      <dgm:prSet presAssocID="{DF6B7FE9-8009-4E54-AD03-D97F578F4F07}" presName="compNode" presStyleCnt="0"/>
      <dgm:spPr/>
    </dgm:pt>
    <dgm:pt modelId="{F4E82EC2-780C-42ED-A4E8-2806410780C2}" type="pres">
      <dgm:prSet presAssocID="{DF6B7FE9-8009-4E54-AD03-D97F578F4F07}" presName="dummyConnPt" presStyleCnt="0"/>
      <dgm:spPr/>
    </dgm:pt>
    <dgm:pt modelId="{A0A965FA-6643-4B57-A635-1D01FD75DAD3}" type="pres">
      <dgm:prSet presAssocID="{DF6B7FE9-8009-4E54-AD03-D97F578F4F07}" presName="node" presStyleLbl="node1" presStyleIdx="11" presStyleCnt="12" custScaleX="156843" custScaleY="7101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BF8B340-791B-4FB4-8305-8B0F2A148951}" type="presOf" srcId="{582DBA4A-4086-4769-B0BE-2C4980A9ED4F}" destId="{72CE7FC3-51D1-4BD9-A0D1-9D9E002EDDB2}" srcOrd="0" destOrd="0" presId="urn:microsoft.com/office/officeart/2005/8/layout/bProcess4"/>
    <dgm:cxn modelId="{C9C878DE-8E1A-4945-8499-480C70AC7C81}" srcId="{8CC70A3C-CAD2-4AEC-B1D8-10F67ADD54B8}" destId="{DF6B7FE9-8009-4E54-AD03-D97F578F4F07}" srcOrd="11" destOrd="0" parTransId="{67D80347-30AD-4011-9256-BCA9D8255763}" sibTransId="{95FA6719-2604-4B0F-9F9D-190160950A89}"/>
    <dgm:cxn modelId="{F467888E-DCE2-4CA5-999A-EE36F9924319}" srcId="{8CC70A3C-CAD2-4AEC-B1D8-10F67ADD54B8}" destId="{85AAA42C-C5CF-4146-B8B1-52CF66AE92F1}" srcOrd="7" destOrd="0" parTransId="{B422DA79-F39B-4D76-9DB2-CAEA76DD39ED}" sibTransId="{DF037FF9-67BE-46C1-AD0E-229BAC00B288}"/>
    <dgm:cxn modelId="{62C03E13-360D-49C6-99F6-E5C6AE07F4E7}" srcId="{8CC70A3C-CAD2-4AEC-B1D8-10F67ADD54B8}" destId="{FE1ECD6C-6F19-4F02-8BEC-33CE6934C768}" srcOrd="2" destOrd="0" parTransId="{DBADC0D7-1011-46AE-BE75-F189B59D8562}" sibTransId="{94C8A636-2444-40D5-A187-1388EEADBDD4}"/>
    <dgm:cxn modelId="{0369321A-AD05-4285-BAE8-AA9052F08B22}" type="presOf" srcId="{739311CE-67D8-4966-9279-4D62E3CB8FDB}" destId="{EE6D3C45-0291-437C-AE11-2F80D22B17B5}" srcOrd="0" destOrd="0" presId="urn:microsoft.com/office/officeart/2005/8/layout/bProcess4"/>
    <dgm:cxn modelId="{C00E016B-E49F-44BE-A040-9CFAF427F957}" srcId="{8CC70A3C-CAD2-4AEC-B1D8-10F67ADD54B8}" destId="{E426E1FB-3045-4392-BA75-B86702E2FA18}" srcOrd="5" destOrd="0" parTransId="{2365EE56-40A9-4433-BA72-DE3C85519B78}" sibTransId="{8466A34D-20AD-4AC7-9BA1-7F10A0AAFEF6}"/>
    <dgm:cxn modelId="{70DD16E0-A920-44FF-A777-C0F6DE07F7C5}" type="presOf" srcId="{94C8A636-2444-40D5-A187-1388EEADBDD4}" destId="{530608B1-D8DB-47AC-9549-426ED8DB801C}" srcOrd="0" destOrd="0" presId="urn:microsoft.com/office/officeart/2005/8/layout/bProcess4"/>
    <dgm:cxn modelId="{8DE1839B-77E0-4C9C-8E31-926A7DF64824}" type="presOf" srcId="{FE1ECD6C-6F19-4F02-8BEC-33CE6934C768}" destId="{703BD5BB-AF85-4533-9706-32196779C405}" srcOrd="0" destOrd="0" presId="urn:microsoft.com/office/officeart/2005/8/layout/bProcess4"/>
    <dgm:cxn modelId="{BC14F5D7-0F9E-4B4F-8F00-A295978A8F15}" type="presOf" srcId="{7B552338-5DA6-4309-ABE0-85DDEC907D98}" destId="{DCEBF0E7-5BEB-4C74-8CF0-0857311D1FC0}" srcOrd="0" destOrd="0" presId="urn:microsoft.com/office/officeart/2005/8/layout/bProcess4"/>
    <dgm:cxn modelId="{57DC2F74-E32F-4292-99BC-A837F77FF2FA}" type="presOf" srcId="{C5CDFA2A-B80D-4E36-B4AD-8F9C648F5F36}" destId="{4FC1965D-91E7-4D2A-8DE9-F4F4FF1BCE36}" srcOrd="0" destOrd="0" presId="urn:microsoft.com/office/officeart/2005/8/layout/bProcess4"/>
    <dgm:cxn modelId="{952D2CC3-F2F0-4446-8A6F-8942BDB2739B}" srcId="{8CC70A3C-CAD2-4AEC-B1D8-10F67ADD54B8}" destId="{770D129C-894F-49CC-9BC9-29E88B296D17}" srcOrd="6" destOrd="0" parTransId="{CC49B606-F1EA-4814-9D83-890C8B1A9E86}" sibTransId="{2661DF69-4FE2-43FB-8811-C932F87EB14C}"/>
    <dgm:cxn modelId="{491F48CA-3E92-445F-9A81-B354813B2DAA}" type="presOf" srcId="{F47E5D7D-B629-49FB-BAF5-6F8964DF752D}" destId="{8338AD9B-594E-41D4-8D95-34D11265D599}" srcOrd="0" destOrd="0" presId="urn:microsoft.com/office/officeart/2005/8/layout/bProcess4"/>
    <dgm:cxn modelId="{EC5F4A04-357F-4025-B595-5EF19DC9E8F2}" type="presOf" srcId="{253557EA-0633-4F71-BE4C-A719A4E6A685}" destId="{93C5D73B-60C1-4DFF-ADE5-90D70969D36D}" srcOrd="0" destOrd="0" presId="urn:microsoft.com/office/officeart/2005/8/layout/bProcess4"/>
    <dgm:cxn modelId="{581F4C1A-92CD-4459-9F5E-BDF48139E2D0}" type="presOf" srcId="{DF037FF9-67BE-46C1-AD0E-229BAC00B288}" destId="{E497066B-CBBE-4C45-9B14-48825E4AE927}" srcOrd="0" destOrd="0" presId="urn:microsoft.com/office/officeart/2005/8/layout/bProcess4"/>
    <dgm:cxn modelId="{A7B2AD1D-DCC6-4F77-A888-B7C692BD8FAC}" type="presOf" srcId="{DF6B7FE9-8009-4E54-AD03-D97F578F4F07}" destId="{A0A965FA-6643-4B57-A635-1D01FD75DAD3}" srcOrd="0" destOrd="0" presId="urn:microsoft.com/office/officeart/2005/8/layout/bProcess4"/>
    <dgm:cxn modelId="{640D582A-E977-4069-8597-E2F8B8479E30}" type="presOf" srcId="{E426E1FB-3045-4392-BA75-B86702E2FA18}" destId="{62788631-1A1E-41FB-9B2D-FF162380FA76}" srcOrd="0" destOrd="0" presId="urn:microsoft.com/office/officeart/2005/8/layout/bProcess4"/>
    <dgm:cxn modelId="{E2E1456C-6F32-4CDB-97C8-073393400D91}" type="presOf" srcId="{E5C0E9FD-2500-4CE6-89E4-01C8FA6C8616}" destId="{B5EA8050-E4A1-4E3D-AEFB-71F77A672BE6}" srcOrd="0" destOrd="0" presId="urn:microsoft.com/office/officeart/2005/8/layout/bProcess4"/>
    <dgm:cxn modelId="{C19782AE-6E3E-4BE1-96DA-D6DEEDAFE2F9}" type="presOf" srcId="{8CC70A3C-CAD2-4AEC-B1D8-10F67ADD54B8}" destId="{426252E5-75ED-42D2-81DE-7ADE769F3507}" srcOrd="0" destOrd="0" presId="urn:microsoft.com/office/officeart/2005/8/layout/bProcess4"/>
    <dgm:cxn modelId="{C0CDCD28-9A8E-4FB5-9A70-A93CD673F1FB}" srcId="{8CC70A3C-CAD2-4AEC-B1D8-10F67ADD54B8}" destId="{19D54415-5701-4EBB-96E1-718E4DE8B1D9}" srcOrd="9" destOrd="0" parTransId="{95773790-4F71-468C-A34E-26268758440E}" sibTransId="{7B552338-5DA6-4309-ABE0-85DDEC907D98}"/>
    <dgm:cxn modelId="{4C5F99D3-3BF1-495E-B54D-ECDC39A8393D}" srcId="{8CC70A3C-CAD2-4AEC-B1D8-10F67ADD54B8}" destId="{620B6B86-9210-4AFD-B9CA-9F665878E0B7}" srcOrd="1" destOrd="0" parTransId="{3C2A7B14-93EC-45DF-81F4-1DE961BF726A}" sibTransId="{253557EA-0633-4F71-BE4C-A719A4E6A685}"/>
    <dgm:cxn modelId="{063712EF-60CD-4197-A01E-3292BE084CE0}" srcId="{8CC70A3C-CAD2-4AEC-B1D8-10F67ADD54B8}" destId="{739311CE-67D8-4966-9279-4D62E3CB8FDB}" srcOrd="10" destOrd="0" parTransId="{70B77A3B-9DF4-49B9-892C-4322BD3200E1}" sibTransId="{582DBA4A-4086-4769-B0BE-2C4980A9ED4F}"/>
    <dgm:cxn modelId="{35525B13-0C64-4528-B0DC-1012991A00BA}" type="presOf" srcId="{B7E3DECB-1C44-4FD5-8ABF-6DC803349307}" destId="{364C75D4-43FF-4A6A-B96D-1EA019CA2A9A}" srcOrd="0" destOrd="0" presId="urn:microsoft.com/office/officeart/2005/8/layout/bProcess4"/>
    <dgm:cxn modelId="{4B75D445-0C61-48AB-913D-91A08BED6F25}" type="presOf" srcId="{31E3C418-3CD9-4EEC-A271-854A05F5C03D}" destId="{42F836AF-8097-4FB6-BB52-216E1C65D85B}" srcOrd="0" destOrd="0" presId="urn:microsoft.com/office/officeart/2005/8/layout/bProcess4"/>
    <dgm:cxn modelId="{940DA46D-EEF8-441B-8875-F7197D818BF8}" type="presOf" srcId="{85AAA42C-C5CF-4146-B8B1-52CF66AE92F1}" destId="{8C4BF303-E5AE-42BC-A062-7BB909F7E4B2}" srcOrd="0" destOrd="0" presId="urn:microsoft.com/office/officeart/2005/8/layout/bProcess4"/>
    <dgm:cxn modelId="{7D4B9017-F0FA-468E-B692-16FBC2DF9547}" type="presOf" srcId="{7D28F84E-F3D3-4819-9E4F-61CAA678D14E}" destId="{1019C2E1-060B-47AF-8691-69E0C73F0FB1}" srcOrd="0" destOrd="0" presId="urn:microsoft.com/office/officeart/2005/8/layout/bProcess4"/>
    <dgm:cxn modelId="{D782CDA8-7677-4339-BA40-3BA6CB20753D}" type="presOf" srcId="{770D129C-894F-49CC-9BC9-29E88B296D17}" destId="{C9A9CADB-23C5-401F-BCD3-F3BDEF1248D2}" srcOrd="0" destOrd="0" presId="urn:microsoft.com/office/officeart/2005/8/layout/bProcess4"/>
    <dgm:cxn modelId="{767D02A9-2E7E-48A6-9A06-C63BB4C5CEB7}" srcId="{8CC70A3C-CAD2-4AEC-B1D8-10F67ADD54B8}" destId="{31E3C418-3CD9-4EEC-A271-854A05F5C03D}" srcOrd="4" destOrd="0" parTransId="{6FAFC1D5-DDC3-4061-90F0-23BC4EC2B2A5}" sibTransId="{E5C0E9FD-2500-4CE6-89E4-01C8FA6C8616}"/>
    <dgm:cxn modelId="{8A513EEC-B5D2-4BAA-B782-669FF060F330}" type="presOf" srcId="{19D54415-5701-4EBB-96E1-718E4DE8B1D9}" destId="{C1DB2EA2-8844-4040-AF37-44C425349ED5}" srcOrd="0" destOrd="0" presId="urn:microsoft.com/office/officeart/2005/8/layout/bProcess4"/>
    <dgm:cxn modelId="{E6E61860-D9AA-4846-8E91-2F7A7A73490E}" type="presOf" srcId="{2661DF69-4FE2-43FB-8811-C932F87EB14C}" destId="{919DCA42-ED90-4A3F-95FB-33850CC91DE7}" srcOrd="0" destOrd="0" presId="urn:microsoft.com/office/officeart/2005/8/layout/bProcess4"/>
    <dgm:cxn modelId="{C19F6883-B8C1-4749-A25E-71EC07A9098F}" type="presOf" srcId="{620B6B86-9210-4AFD-B9CA-9F665878E0B7}" destId="{0672947F-DC06-4A9E-8BBE-82ED7BB1695F}" srcOrd="0" destOrd="0" presId="urn:microsoft.com/office/officeart/2005/8/layout/bProcess4"/>
    <dgm:cxn modelId="{147149CE-0EFE-45CB-A7E3-1478C72876F8}" srcId="{8CC70A3C-CAD2-4AEC-B1D8-10F67ADD54B8}" destId="{8C1C6140-A854-4C06-A95E-3DD18E0D89F5}" srcOrd="3" destOrd="0" parTransId="{B4B9282F-FF40-4F14-B38F-5222EFAE5CE8}" sibTransId="{F47E5D7D-B629-49FB-BAF5-6F8964DF752D}"/>
    <dgm:cxn modelId="{E8E7870B-BAAA-488A-8069-B4791585CFC1}" srcId="{8CC70A3C-CAD2-4AEC-B1D8-10F67ADD54B8}" destId="{C5CDFA2A-B80D-4E36-B4AD-8F9C648F5F36}" srcOrd="0" destOrd="0" parTransId="{CD56F668-5961-4C92-86A6-D0D601657769}" sibTransId="{5EF2E7BA-B46E-48E9-9E8A-B44F3794749D}"/>
    <dgm:cxn modelId="{90E7F7FF-B2F6-42DD-A3E1-A778E2CB105E}" type="presOf" srcId="{8C1C6140-A854-4C06-A95E-3DD18E0D89F5}" destId="{1579B0C5-BBA6-43C0-9EA9-FCFEE7C625E4}" srcOrd="0" destOrd="0" presId="urn:microsoft.com/office/officeart/2005/8/layout/bProcess4"/>
    <dgm:cxn modelId="{AC5F97BC-11A6-4BE2-99DB-E9AC22E4A984}" type="presOf" srcId="{5EF2E7BA-B46E-48E9-9E8A-B44F3794749D}" destId="{E1D64691-6765-4551-B063-52F9924FF103}" srcOrd="0" destOrd="0" presId="urn:microsoft.com/office/officeart/2005/8/layout/bProcess4"/>
    <dgm:cxn modelId="{02EA9279-64D4-4F7E-8F01-624F0A52AC72}" srcId="{8CC70A3C-CAD2-4AEC-B1D8-10F67ADD54B8}" destId="{B7E3DECB-1C44-4FD5-8ABF-6DC803349307}" srcOrd="8" destOrd="0" parTransId="{7415B7A7-F12C-4F9B-8EDB-682474DF35BE}" sibTransId="{7D28F84E-F3D3-4819-9E4F-61CAA678D14E}"/>
    <dgm:cxn modelId="{60B5C6C4-B24F-46D0-B67E-339E197F7A5B}" type="presOf" srcId="{8466A34D-20AD-4AC7-9BA1-7F10A0AAFEF6}" destId="{A23EEBB9-A9E6-453C-B158-5287BC40C316}" srcOrd="0" destOrd="0" presId="urn:microsoft.com/office/officeart/2005/8/layout/bProcess4"/>
    <dgm:cxn modelId="{1878EB8E-E560-4D29-9034-200B9A5F8D8E}" type="presParOf" srcId="{426252E5-75ED-42D2-81DE-7ADE769F3507}" destId="{47F8A2D3-B29D-4C33-9D2B-590B49725DFB}" srcOrd="0" destOrd="0" presId="urn:microsoft.com/office/officeart/2005/8/layout/bProcess4"/>
    <dgm:cxn modelId="{82CEDC37-2591-4FFF-B7D8-903856C6CD54}" type="presParOf" srcId="{47F8A2D3-B29D-4C33-9D2B-590B49725DFB}" destId="{1A146C3B-893B-4868-A7D6-08B74ED51FEF}" srcOrd="0" destOrd="0" presId="urn:microsoft.com/office/officeart/2005/8/layout/bProcess4"/>
    <dgm:cxn modelId="{B10AD4FA-8D1B-4EB7-B94A-F03EB2E98BBE}" type="presParOf" srcId="{47F8A2D3-B29D-4C33-9D2B-590B49725DFB}" destId="{4FC1965D-91E7-4D2A-8DE9-F4F4FF1BCE36}" srcOrd="1" destOrd="0" presId="urn:microsoft.com/office/officeart/2005/8/layout/bProcess4"/>
    <dgm:cxn modelId="{058068C4-C740-4697-9E73-C66C6FD21EFA}" type="presParOf" srcId="{426252E5-75ED-42D2-81DE-7ADE769F3507}" destId="{E1D64691-6765-4551-B063-52F9924FF103}" srcOrd="1" destOrd="0" presId="urn:microsoft.com/office/officeart/2005/8/layout/bProcess4"/>
    <dgm:cxn modelId="{22AB1572-10DF-442F-9155-779243B8ED24}" type="presParOf" srcId="{426252E5-75ED-42D2-81DE-7ADE769F3507}" destId="{BA936B41-084B-456B-ADD3-25AAFAB0E7A7}" srcOrd="2" destOrd="0" presId="urn:microsoft.com/office/officeart/2005/8/layout/bProcess4"/>
    <dgm:cxn modelId="{9FEB1F8F-2BDE-4024-99CB-F75B1883AD94}" type="presParOf" srcId="{BA936B41-084B-456B-ADD3-25AAFAB0E7A7}" destId="{99E355CF-EB54-4AC8-9EEB-055FF521CE26}" srcOrd="0" destOrd="0" presId="urn:microsoft.com/office/officeart/2005/8/layout/bProcess4"/>
    <dgm:cxn modelId="{BED53C38-C69A-4F31-B088-8849DAD7B332}" type="presParOf" srcId="{BA936B41-084B-456B-ADD3-25AAFAB0E7A7}" destId="{0672947F-DC06-4A9E-8BBE-82ED7BB1695F}" srcOrd="1" destOrd="0" presId="urn:microsoft.com/office/officeart/2005/8/layout/bProcess4"/>
    <dgm:cxn modelId="{30C50406-0E16-42B4-9B09-62F4F975D13A}" type="presParOf" srcId="{426252E5-75ED-42D2-81DE-7ADE769F3507}" destId="{93C5D73B-60C1-4DFF-ADE5-90D70969D36D}" srcOrd="3" destOrd="0" presId="urn:microsoft.com/office/officeart/2005/8/layout/bProcess4"/>
    <dgm:cxn modelId="{DAEB3251-B323-4E66-9973-F6C6C8D600E6}" type="presParOf" srcId="{426252E5-75ED-42D2-81DE-7ADE769F3507}" destId="{E349632D-FBCF-4F4E-A4E9-9B001982858F}" srcOrd="4" destOrd="0" presId="urn:microsoft.com/office/officeart/2005/8/layout/bProcess4"/>
    <dgm:cxn modelId="{F7F21A78-DEC2-4C55-ABAC-77FF0FD4A96C}" type="presParOf" srcId="{E349632D-FBCF-4F4E-A4E9-9B001982858F}" destId="{AAE00505-28CA-4B32-8B15-9171243B9786}" srcOrd="0" destOrd="0" presId="urn:microsoft.com/office/officeart/2005/8/layout/bProcess4"/>
    <dgm:cxn modelId="{593959E7-994E-49AA-9201-B40E01E08E14}" type="presParOf" srcId="{E349632D-FBCF-4F4E-A4E9-9B001982858F}" destId="{703BD5BB-AF85-4533-9706-32196779C405}" srcOrd="1" destOrd="0" presId="urn:microsoft.com/office/officeart/2005/8/layout/bProcess4"/>
    <dgm:cxn modelId="{E5499116-C3EE-4706-B0E3-21536D663ACF}" type="presParOf" srcId="{426252E5-75ED-42D2-81DE-7ADE769F3507}" destId="{530608B1-D8DB-47AC-9549-426ED8DB801C}" srcOrd="5" destOrd="0" presId="urn:microsoft.com/office/officeart/2005/8/layout/bProcess4"/>
    <dgm:cxn modelId="{C35E95DA-FC67-4E25-967F-FC164209F39F}" type="presParOf" srcId="{426252E5-75ED-42D2-81DE-7ADE769F3507}" destId="{16994A18-CC94-4CF3-932F-758F3898E48D}" srcOrd="6" destOrd="0" presId="urn:microsoft.com/office/officeart/2005/8/layout/bProcess4"/>
    <dgm:cxn modelId="{6A19E12C-80A1-4D74-8AD7-34E4E3576B3B}" type="presParOf" srcId="{16994A18-CC94-4CF3-932F-758F3898E48D}" destId="{CC07E114-D5D3-4FDD-A90C-3666A5CD3D95}" srcOrd="0" destOrd="0" presId="urn:microsoft.com/office/officeart/2005/8/layout/bProcess4"/>
    <dgm:cxn modelId="{62975E52-381C-43D9-9079-072A5798B74F}" type="presParOf" srcId="{16994A18-CC94-4CF3-932F-758F3898E48D}" destId="{1579B0C5-BBA6-43C0-9EA9-FCFEE7C625E4}" srcOrd="1" destOrd="0" presId="urn:microsoft.com/office/officeart/2005/8/layout/bProcess4"/>
    <dgm:cxn modelId="{776E4829-924B-4E8B-985B-0FEA7C026B80}" type="presParOf" srcId="{426252E5-75ED-42D2-81DE-7ADE769F3507}" destId="{8338AD9B-594E-41D4-8D95-34D11265D599}" srcOrd="7" destOrd="0" presId="urn:microsoft.com/office/officeart/2005/8/layout/bProcess4"/>
    <dgm:cxn modelId="{F950CB74-E19A-4067-9C31-9A005AAAA9C5}" type="presParOf" srcId="{426252E5-75ED-42D2-81DE-7ADE769F3507}" destId="{323FA580-1877-4265-B3E8-4F38519BFEAD}" srcOrd="8" destOrd="0" presId="urn:microsoft.com/office/officeart/2005/8/layout/bProcess4"/>
    <dgm:cxn modelId="{17615AA7-2351-4819-9A8F-1A6806976F8E}" type="presParOf" srcId="{323FA580-1877-4265-B3E8-4F38519BFEAD}" destId="{9E2569D4-A0C5-459E-972F-5CDE7E62179E}" srcOrd="0" destOrd="0" presId="urn:microsoft.com/office/officeart/2005/8/layout/bProcess4"/>
    <dgm:cxn modelId="{6EBA1FA1-F54E-4237-945B-53AB7CB81BB8}" type="presParOf" srcId="{323FA580-1877-4265-B3E8-4F38519BFEAD}" destId="{42F836AF-8097-4FB6-BB52-216E1C65D85B}" srcOrd="1" destOrd="0" presId="urn:microsoft.com/office/officeart/2005/8/layout/bProcess4"/>
    <dgm:cxn modelId="{66F7BC31-FA65-4568-AA63-155ACA53B815}" type="presParOf" srcId="{426252E5-75ED-42D2-81DE-7ADE769F3507}" destId="{B5EA8050-E4A1-4E3D-AEFB-71F77A672BE6}" srcOrd="9" destOrd="0" presId="urn:microsoft.com/office/officeart/2005/8/layout/bProcess4"/>
    <dgm:cxn modelId="{84A258C2-812C-4FDD-9BF3-24377F186CFA}" type="presParOf" srcId="{426252E5-75ED-42D2-81DE-7ADE769F3507}" destId="{3BE3E646-CF40-42E7-B160-33452FE6EDD6}" srcOrd="10" destOrd="0" presId="urn:microsoft.com/office/officeart/2005/8/layout/bProcess4"/>
    <dgm:cxn modelId="{790CC36D-563C-41A7-AA57-35958AF295DD}" type="presParOf" srcId="{3BE3E646-CF40-42E7-B160-33452FE6EDD6}" destId="{B0C65B59-632E-451A-B832-234228F80624}" srcOrd="0" destOrd="0" presId="urn:microsoft.com/office/officeart/2005/8/layout/bProcess4"/>
    <dgm:cxn modelId="{88D6A791-C4E2-4808-A241-285C18CFB76B}" type="presParOf" srcId="{3BE3E646-CF40-42E7-B160-33452FE6EDD6}" destId="{62788631-1A1E-41FB-9B2D-FF162380FA76}" srcOrd="1" destOrd="0" presId="urn:microsoft.com/office/officeart/2005/8/layout/bProcess4"/>
    <dgm:cxn modelId="{808AC0AA-F7E5-4A08-88FC-3A3A2D4C50B4}" type="presParOf" srcId="{426252E5-75ED-42D2-81DE-7ADE769F3507}" destId="{A23EEBB9-A9E6-453C-B158-5287BC40C316}" srcOrd="11" destOrd="0" presId="urn:microsoft.com/office/officeart/2005/8/layout/bProcess4"/>
    <dgm:cxn modelId="{78F07A21-ADB7-401D-8A45-949638768457}" type="presParOf" srcId="{426252E5-75ED-42D2-81DE-7ADE769F3507}" destId="{DF58DA5B-7BC6-4003-8376-D27D74D5E646}" srcOrd="12" destOrd="0" presId="urn:microsoft.com/office/officeart/2005/8/layout/bProcess4"/>
    <dgm:cxn modelId="{DD87A5D7-E34F-444A-88F7-813185D80E62}" type="presParOf" srcId="{DF58DA5B-7BC6-4003-8376-D27D74D5E646}" destId="{4FA6C146-C76B-4693-A990-EDA3376367A1}" srcOrd="0" destOrd="0" presId="urn:microsoft.com/office/officeart/2005/8/layout/bProcess4"/>
    <dgm:cxn modelId="{F779F7E7-6652-4C4E-86A8-193C04B73F98}" type="presParOf" srcId="{DF58DA5B-7BC6-4003-8376-D27D74D5E646}" destId="{C9A9CADB-23C5-401F-BCD3-F3BDEF1248D2}" srcOrd="1" destOrd="0" presId="urn:microsoft.com/office/officeart/2005/8/layout/bProcess4"/>
    <dgm:cxn modelId="{1040C530-632D-44A3-991B-A9ECD27C02AE}" type="presParOf" srcId="{426252E5-75ED-42D2-81DE-7ADE769F3507}" destId="{919DCA42-ED90-4A3F-95FB-33850CC91DE7}" srcOrd="13" destOrd="0" presId="urn:microsoft.com/office/officeart/2005/8/layout/bProcess4"/>
    <dgm:cxn modelId="{787F1B37-252F-40BF-829D-F556F0EBEF59}" type="presParOf" srcId="{426252E5-75ED-42D2-81DE-7ADE769F3507}" destId="{2A09E5F3-28DD-4856-83E7-D61DCC4FF26B}" srcOrd="14" destOrd="0" presId="urn:microsoft.com/office/officeart/2005/8/layout/bProcess4"/>
    <dgm:cxn modelId="{9E9ED281-AF0F-4A61-82C9-CE7714309295}" type="presParOf" srcId="{2A09E5F3-28DD-4856-83E7-D61DCC4FF26B}" destId="{E7220C4A-2F1A-47C0-9E7E-2443C1743BF4}" srcOrd="0" destOrd="0" presId="urn:microsoft.com/office/officeart/2005/8/layout/bProcess4"/>
    <dgm:cxn modelId="{4BA15836-7B9C-4179-90D6-93769B720608}" type="presParOf" srcId="{2A09E5F3-28DD-4856-83E7-D61DCC4FF26B}" destId="{8C4BF303-E5AE-42BC-A062-7BB909F7E4B2}" srcOrd="1" destOrd="0" presId="urn:microsoft.com/office/officeart/2005/8/layout/bProcess4"/>
    <dgm:cxn modelId="{BDBAA2A4-A36C-4DF7-86E9-45E46D30D27F}" type="presParOf" srcId="{426252E5-75ED-42D2-81DE-7ADE769F3507}" destId="{E497066B-CBBE-4C45-9B14-48825E4AE927}" srcOrd="15" destOrd="0" presId="urn:microsoft.com/office/officeart/2005/8/layout/bProcess4"/>
    <dgm:cxn modelId="{434584F3-0861-4690-9BBD-52AA9E78FD90}" type="presParOf" srcId="{426252E5-75ED-42D2-81DE-7ADE769F3507}" destId="{325BB62B-FBA4-4AC9-A4DE-A982C0E81347}" srcOrd="16" destOrd="0" presId="urn:microsoft.com/office/officeart/2005/8/layout/bProcess4"/>
    <dgm:cxn modelId="{A0716068-8AE7-4B61-A0EB-173CC545C41E}" type="presParOf" srcId="{325BB62B-FBA4-4AC9-A4DE-A982C0E81347}" destId="{C30D52B2-2BDF-45DC-A839-4CE4F1ECEE87}" srcOrd="0" destOrd="0" presId="urn:microsoft.com/office/officeart/2005/8/layout/bProcess4"/>
    <dgm:cxn modelId="{D79860EE-D824-4548-A259-4A450A1CD3A8}" type="presParOf" srcId="{325BB62B-FBA4-4AC9-A4DE-A982C0E81347}" destId="{364C75D4-43FF-4A6A-B96D-1EA019CA2A9A}" srcOrd="1" destOrd="0" presId="urn:microsoft.com/office/officeart/2005/8/layout/bProcess4"/>
    <dgm:cxn modelId="{6E1B3FEF-89DE-4296-A5B9-3840337AE56A}" type="presParOf" srcId="{426252E5-75ED-42D2-81DE-7ADE769F3507}" destId="{1019C2E1-060B-47AF-8691-69E0C73F0FB1}" srcOrd="17" destOrd="0" presId="urn:microsoft.com/office/officeart/2005/8/layout/bProcess4"/>
    <dgm:cxn modelId="{552F2A34-C831-45A5-8400-134B8CC6A5C5}" type="presParOf" srcId="{426252E5-75ED-42D2-81DE-7ADE769F3507}" destId="{4DA1C6EE-8187-4677-8244-D77616200C72}" srcOrd="18" destOrd="0" presId="urn:microsoft.com/office/officeart/2005/8/layout/bProcess4"/>
    <dgm:cxn modelId="{A198820D-230A-4E68-A7B4-F202CBA68335}" type="presParOf" srcId="{4DA1C6EE-8187-4677-8244-D77616200C72}" destId="{7F610045-1C12-4E21-A9DF-21356CCED557}" srcOrd="0" destOrd="0" presId="urn:microsoft.com/office/officeart/2005/8/layout/bProcess4"/>
    <dgm:cxn modelId="{244EDCEA-EAEA-44F6-9E3D-C076785A1220}" type="presParOf" srcId="{4DA1C6EE-8187-4677-8244-D77616200C72}" destId="{C1DB2EA2-8844-4040-AF37-44C425349ED5}" srcOrd="1" destOrd="0" presId="urn:microsoft.com/office/officeart/2005/8/layout/bProcess4"/>
    <dgm:cxn modelId="{3C19CDD3-74AA-462E-9F10-754D8843177A}" type="presParOf" srcId="{426252E5-75ED-42D2-81DE-7ADE769F3507}" destId="{DCEBF0E7-5BEB-4C74-8CF0-0857311D1FC0}" srcOrd="19" destOrd="0" presId="urn:microsoft.com/office/officeart/2005/8/layout/bProcess4"/>
    <dgm:cxn modelId="{45B59352-94D5-45DF-9C70-2D888EA14591}" type="presParOf" srcId="{426252E5-75ED-42D2-81DE-7ADE769F3507}" destId="{F916DB36-38FF-4DB4-BD83-051346613D08}" srcOrd="20" destOrd="0" presId="urn:microsoft.com/office/officeart/2005/8/layout/bProcess4"/>
    <dgm:cxn modelId="{3C16FEEC-F047-4009-AD8E-D0BAD353EED4}" type="presParOf" srcId="{F916DB36-38FF-4DB4-BD83-051346613D08}" destId="{C7229665-878B-4D73-944F-453B7B532ACA}" srcOrd="0" destOrd="0" presId="urn:microsoft.com/office/officeart/2005/8/layout/bProcess4"/>
    <dgm:cxn modelId="{45404F96-395B-49E5-AFED-258CE1D7718B}" type="presParOf" srcId="{F916DB36-38FF-4DB4-BD83-051346613D08}" destId="{EE6D3C45-0291-437C-AE11-2F80D22B17B5}" srcOrd="1" destOrd="0" presId="urn:microsoft.com/office/officeart/2005/8/layout/bProcess4"/>
    <dgm:cxn modelId="{7B1ED416-F923-4699-B35F-C85A41ECB2EA}" type="presParOf" srcId="{426252E5-75ED-42D2-81DE-7ADE769F3507}" destId="{72CE7FC3-51D1-4BD9-A0D1-9D9E002EDDB2}" srcOrd="21" destOrd="0" presId="urn:microsoft.com/office/officeart/2005/8/layout/bProcess4"/>
    <dgm:cxn modelId="{6455596B-5A38-4114-A6F9-9D5C651D5720}" type="presParOf" srcId="{426252E5-75ED-42D2-81DE-7ADE769F3507}" destId="{396CDFFB-C4AF-41A2-9443-E98F6EFAC4F3}" srcOrd="22" destOrd="0" presId="urn:microsoft.com/office/officeart/2005/8/layout/bProcess4"/>
    <dgm:cxn modelId="{E567B027-20C0-4C7A-A67E-D0B3F565E565}" type="presParOf" srcId="{396CDFFB-C4AF-41A2-9443-E98F6EFAC4F3}" destId="{F4E82EC2-780C-42ED-A4E8-2806410780C2}" srcOrd="0" destOrd="0" presId="urn:microsoft.com/office/officeart/2005/8/layout/bProcess4"/>
    <dgm:cxn modelId="{B8908970-97C9-4E19-BF86-762191A96086}" type="presParOf" srcId="{396CDFFB-C4AF-41A2-9443-E98F6EFAC4F3}" destId="{A0A965FA-6643-4B57-A635-1D01FD75DAD3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64691-6765-4551-B063-52F9924FF103}">
      <dsp:nvSpPr>
        <dsp:cNvPr id="0" name=""/>
        <dsp:cNvSpPr/>
      </dsp:nvSpPr>
      <dsp:spPr>
        <a:xfrm rot="5400000">
          <a:off x="39212" y="433160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1965D-91E7-4D2A-8DE9-F4F4FF1BCE36}">
      <dsp:nvSpPr>
        <dsp:cNvPr id="0" name=""/>
        <dsp:cNvSpPr/>
      </dsp:nvSpPr>
      <dsp:spPr>
        <a:xfrm>
          <a:off x="1416" y="132440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Cumulative Bonus Super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Up to 100% increase in SI every year Max increase 500%</a:t>
          </a:r>
          <a:endParaRPr lang="en-IN" sz="500" kern="1200" dirty="0">
            <a:latin typeface="+mj-lt"/>
          </a:endParaRPr>
        </a:p>
      </dsp:txBody>
      <dsp:txXfrm>
        <a:off x="13230" y="144254"/>
        <a:ext cx="1461089" cy="379720"/>
      </dsp:txXfrm>
    </dsp:sp>
    <dsp:sp modelId="{93C5D73B-60C1-4DFF-ADE5-90D70969D36D}">
      <dsp:nvSpPr>
        <dsp:cNvPr id="0" name=""/>
        <dsp:cNvSpPr/>
      </dsp:nvSpPr>
      <dsp:spPr>
        <a:xfrm rot="5400000">
          <a:off x="39212" y="978502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2947F-DC06-4A9E-8BBE-82ED7BB1695F}">
      <dsp:nvSpPr>
        <dsp:cNvPr id="0" name=""/>
        <dsp:cNvSpPr/>
      </dsp:nvSpPr>
      <dsp:spPr>
        <a:xfrm>
          <a:off x="1416" y="677782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Cumulative Bonus Booster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" kern="1200" dirty="0" smtClean="0"/>
            <a:t>100% of Base Sum Insured per year irre</a:t>
          </a:r>
          <a:r>
            <a:rPr lang="en-US" sz="500" kern="1200" dirty="0" smtClean="0"/>
            <a:t>spective of claim for unlimited times on continuous renewal of policy</a:t>
          </a:r>
          <a:endParaRPr lang="en-US" sz="500" kern="1200" dirty="0" smtClean="0">
            <a:latin typeface="+mj-lt"/>
          </a:endParaRPr>
        </a:p>
      </dsp:txBody>
      <dsp:txXfrm>
        <a:off x="13230" y="689596"/>
        <a:ext cx="1461089" cy="379720"/>
      </dsp:txXfrm>
    </dsp:sp>
    <dsp:sp modelId="{530608B1-D8DB-47AC-9549-426ED8DB801C}">
      <dsp:nvSpPr>
        <dsp:cNvPr id="0" name=""/>
        <dsp:cNvSpPr/>
      </dsp:nvSpPr>
      <dsp:spPr>
        <a:xfrm rot="5400000">
          <a:off x="39212" y="1523844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BD5BB-AF85-4533-9706-32196779C405}">
      <dsp:nvSpPr>
        <dsp:cNvPr id="0" name=""/>
        <dsp:cNvSpPr/>
      </dsp:nvSpPr>
      <dsp:spPr>
        <a:xfrm>
          <a:off x="1416" y="1223125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Air Ambulance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Up to 5Lac</a:t>
          </a:r>
          <a:endParaRPr lang="en-IN" sz="500" kern="1200" dirty="0">
            <a:latin typeface="+mj-lt"/>
          </a:endParaRPr>
        </a:p>
      </dsp:txBody>
      <dsp:txXfrm>
        <a:off x="13230" y="1234939"/>
        <a:ext cx="1461089" cy="379720"/>
      </dsp:txXfrm>
    </dsp:sp>
    <dsp:sp modelId="{8338AD9B-594E-41D4-8D95-34D11265D599}">
      <dsp:nvSpPr>
        <dsp:cNvPr id="0" name=""/>
        <dsp:cNvSpPr/>
      </dsp:nvSpPr>
      <dsp:spPr>
        <a:xfrm>
          <a:off x="-39375" y="1796516"/>
          <a:ext cx="2802135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9B0C5-BBA6-43C0-9EA9-FCFEE7C625E4}">
      <dsp:nvSpPr>
        <dsp:cNvPr id="0" name=""/>
        <dsp:cNvSpPr/>
      </dsp:nvSpPr>
      <dsp:spPr>
        <a:xfrm>
          <a:off x="1416" y="1768467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Wellness Benefit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Discount on renewal premium &amp; access to online fitness session</a:t>
          </a:r>
          <a:endParaRPr lang="en-IN" sz="500" kern="1200" dirty="0">
            <a:latin typeface="+mj-lt"/>
          </a:endParaRPr>
        </a:p>
      </dsp:txBody>
      <dsp:txXfrm>
        <a:off x="13230" y="1780281"/>
        <a:ext cx="1461089" cy="379720"/>
      </dsp:txXfrm>
    </dsp:sp>
    <dsp:sp modelId="{B5EA8050-E4A1-4E3D-AEFB-71F77A672BE6}">
      <dsp:nvSpPr>
        <dsp:cNvPr id="0" name=""/>
        <dsp:cNvSpPr/>
      </dsp:nvSpPr>
      <dsp:spPr>
        <a:xfrm rot="16200000">
          <a:off x="1836316" y="1523844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836AF-8097-4FB6-BB52-216E1C65D85B}">
      <dsp:nvSpPr>
        <dsp:cNvPr id="0" name=""/>
        <dsp:cNvSpPr/>
      </dsp:nvSpPr>
      <dsp:spPr>
        <a:xfrm>
          <a:off x="1798521" y="1768467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Modification of PED Wait Period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PED wait period will be modified to 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1 year or 2 years as opted</a:t>
          </a:r>
          <a:endParaRPr lang="en-IN" sz="500" kern="1200" dirty="0">
            <a:latin typeface="+mj-lt"/>
          </a:endParaRPr>
        </a:p>
      </dsp:txBody>
      <dsp:txXfrm>
        <a:off x="1810335" y="1780281"/>
        <a:ext cx="1461089" cy="379720"/>
      </dsp:txXfrm>
    </dsp:sp>
    <dsp:sp modelId="{A23EEBB9-A9E6-453C-B158-5287BC40C316}">
      <dsp:nvSpPr>
        <dsp:cNvPr id="0" name=""/>
        <dsp:cNvSpPr/>
      </dsp:nvSpPr>
      <dsp:spPr>
        <a:xfrm rot="16200000">
          <a:off x="1836316" y="978502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88631-1A1E-41FB-9B2D-FF162380FA76}">
      <dsp:nvSpPr>
        <dsp:cNvPr id="0" name=""/>
        <dsp:cNvSpPr/>
      </dsp:nvSpPr>
      <dsp:spPr>
        <a:xfrm>
          <a:off x="1798521" y="1223125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Annual Health Check--up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Once every year for all insured members</a:t>
          </a:r>
          <a:endParaRPr lang="en-IN" sz="500" kern="1200" dirty="0">
            <a:latin typeface="+mj-lt"/>
          </a:endParaRPr>
        </a:p>
      </dsp:txBody>
      <dsp:txXfrm>
        <a:off x="1810335" y="1234939"/>
        <a:ext cx="1461089" cy="379720"/>
      </dsp:txXfrm>
    </dsp:sp>
    <dsp:sp modelId="{919DCA42-ED90-4A3F-95FB-33850CC91DE7}">
      <dsp:nvSpPr>
        <dsp:cNvPr id="0" name=""/>
        <dsp:cNvSpPr/>
      </dsp:nvSpPr>
      <dsp:spPr>
        <a:xfrm rot="16200000">
          <a:off x="1836316" y="433160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9CADB-23C5-401F-BCD3-F3BDEF1248D2}">
      <dsp:nvSpPr>
        <dsp:cNvPr id="0" name=""/>
        <dsp:cNvSpPr/>
      </dsp:nvSpPr>
      <dsp:spPr>
        <a:xfrm>
          <a:off x="1798521" y="677782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Unlimited Care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Any one claim during the lifetime of the policy without any limit on sum insured</a:t>
          </a:r>
          <a:endParaRPr lang="en-IN" sz="500" kern="1200" dirty="0">
            <a:latin typeface="+mj-lt"/>
          </a:endParaRPr>
        </a:p>
      </dsp:txBody>
      <dsp:txXfrm>
        <a:off x="1810335" y="689596"/>
        <a:ext cx="1461089" cy="379720"/>
      </dsp:txXfrm>
    </dsp:sp>
    <dsp:sp modelId="{E497066B-CBBE-4C45-9B14-48825E4AE927}">
      <dsp:nvSpPr>
        <dsp:cNvPr id="0" name=""/>
        <dsp:cNvSpPr/>
      </dsp:nvSpPr>
      <dsp:spPr>
        <a:xfrm>
          <a:off x="1757729" y="160489"/>
          <a:ext cx="2802135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BF303-E5AE-42BC-A062-7BB909F7E4B2}">
      <dsp:nvSpPr>
        <dsp:cNvPr id="0" name=""/>
        <dsp:cNvSpPr/>
      </dsp:nvSpPr>
      <dsp:spPr>
        <a:xfrm>
          <a:off x="1798521" y="132440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Claim Shield: </a:t>
          </a:r>
          <a:r>
            <a:rPr lang="en-US" sz="500" kern="1200" dirty="0" smtClean="0">
              <a:latin typeface="+mj-lt"/>
            </a:rPr>
            <a:t>Coverage of expense related to 68 non-payable  items during hospitalization</a:t>
          </a:r>
        </a:p>
        <a:p>
          <a:pPr lvl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  <a:cs typeface="Calibri Light" pitchFamily="34" charset="0"/>
            </a:rPr>
            <a:t>Claim Shield + </a:t>
          </a:r>
          <a:r>
            <a:rPr lang="en-US" sz="500" kern="1200" dirty="0" smtClean="0">
              <a:latin typeface="+mj-lt"/>
              <a:cs typeface="Calibri Light" pitchFamily="34" charset="0"/>
            </a:rPr>
            <a:t>List of items as per annexure I (list I, II, III and IV) that are non-payable shall be covered</a:t>
          </a:r>
          <a:endParaRPr lang="en-US" sz="500" b="1" kern="1200" dirty="0" smtClean="0">
            <a:latin typeface="+mj-lt"/>
            <a:cs typeface="Calibri Light" pitchFamily="34" charset="0"/>
          </a:endParaRPr>
        </a:p>
      </dsp:txBody>
      <dsp:txXfrm>
        <a:off x="1810335" y="144254"/>
        <a:ext cx="1461089" cy="379720"/>
      </dsp:txXfrm>
    </dsp:sp>
    <dsp:sp modelId="{1019C2E1-060B-47AF-8691-69E0C73F0FB1}">
      <dsp:nvSpPr>
        <dsp:cNvPr id="0" name=""/>
        <dsp:cNvSpPr/>
      </dsp:nvSpPr>
      <dsp:spPr>
        <a:xfrm rot="5400000">
          <a:off x="3633421" y="433160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C75D4-43FF-4A6A-B96D-1EA019CA2A9A}">
      <dsp:nvSpPr>
        <dsp:cNvPr id="0" name=""/>
        <dsp:cNvSpPr/>
      </dsp:nvSpPr>
      <dsp:spPr>
        <a:xfrm>
          <a:off x="3595625" y="132440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Be-fit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j-lt"/>
            </a:rPr>
            <a:t>Avail access to gyms unlimited times in a policy year. Only applicable for insured person above 12 years of age</a:t>
          </a:r>
          <a:endParaRPr lang="en-IN" sz="500" kern="1200" dirty="0">
            <a:latin typeface="+mj-lt"/>
          </a:endParaRPr>
        </a:p>
      </dsp:txBody>
      <dsp:txXfrm>
        <a:off x="3607439" y="144254"/>
        <a:ext cx="1461089" cy="379720"/>
      </dsp:txXfrm>
    </dsp:sp>
    <dsp:sp modelId="{DCEBF0E7-5BEB-4C74-8CF0-0857311D1FC0}">
      <dsp:nvSpPr>
        <dsp:cNvPr id="0" name=""/>
        <dsp:cNvSpPr/>
      </dsp:nvSpPr>
      <dsp:spPr>
        <a:xfrm rot="5400000">
          <a:off x="3633421" y="978502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B2EA2-8844-4040-AF37-44C425349ED5}">
      <dsp:nvSpPr>
        <dsp:cNvPr id="0" name=""/>
        <dsp:cNvSpPr/>
      </dsp:nvSpPr>
      <dsp:spPr>
        <a:xfrm>
          <a:off x="3595625" y="677782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Care OPD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Calibri Light" panose="020F0302020204030204" pitchFamily="34" charset="0"/>
              <a:cs typeface="Calibri Light" panose="020F0302020204030204" pitchFamily="34" charset="0"/>
            </a:rPr>
            <a:t>4 Physical Consultations from a General Physician &amp; Specialist each per insured max up to 500/-per consultation</a:t>
          </a:r>
          <a:endParaRPr lang="en-IN" sz="500" kern="1200" dirty="0">
            <a:latin typeface="+mj-lt"/>
          </a:endParaRPr>
        </a:p>
      </dsp:txBody>
      <dsp:txXfrm>
        <a:off x="3607439" y="689596"/>
        <a:ext cx="1461089" cy="379720"/>
      </dsp:txXfrm>
    </dsp:sp>
    <dsp:sp modelId="{72CE7FC3-51D1-4BD9-A0D1-9D9E002EDDB2}">
      <dsp:nvSpPr>
        <dsp:cNvPr id="0" name=""/>
        <dsp:cNvSpPr/>
      </dsp:nvSpPr>
      <dsp:spPr>
        <a:xfrm rot="5400000">
          <a:off x="3633421" y="1523844"/>
          <a:ext cx="847856" cy="60502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D3C45-0291-437C-AE11-2F80D22B17B5}">
      <dsp:nvSpPr>
        <dsp:cNvPr id="0" name=""/>
        <dsp:cNvSpPr/>
      </dsp:nvSpPr>
      <dsp:spPr>
        <a:xfrm>
          <a:off x="3595625" y="1223125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  <a:cs typeface="Calibri Light" pitchFamily="34" charset="0"/>
            </a:rPr>
            <a:t>Instant Cover and Instant Cover Plus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latin typeface="+mj-lt"/>
              <a:cs typeface="Calibri Light" pitchFamily="34" charset="0"/>
            </a:rPr>
            <a:t>PED Waiting period reduced to 30 days for 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latin typeface="+mj-lt"/>
              <a:cs typeface="Calibri Light" pitchFamily="34" charset="0"/>
            </a:rPr>
            <a:t>specified declared PEDs in policy</a:t>
          </a:r>
        </a:p>
      </dsp:txBody>
      <dsp:txXfrm>
        <a:off x="3607439" y="1234939"/>
        <a:ext cx="1461089" cy="379720"/>
      </dsp:txXfrm>
    </dsp:sp>
    <dsp:sp modelId="{A0A965FA-6643-4B57-A635-1D01FD75DAD3}">
      <dsp:nvSpPr>
        <dsp:cNvPr id="0" name=""/>
        <dsp:cNvSpPr/>
      </dsp:nvSpPr>
      <dsp:spPr>
        <a:xfrm>
          <a:off x="3595625" y="1768467"/>
          <a:ext cx="1484717" cy="403348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>
              <a:latin typeface="+mj-lt"/>
            </a:rPr>
            <a:t>Care OPD Plus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Calibri Light" panose="020F0302020204030204" pitchFamily="34" charset="0"/>
              <a:cs typeface="Calibri Light" panose="020F0302020204030204" pitchFamily="34" charset="0"/>
            </a:rPr>
            <a:t>4 Physical Consultations with GP max 1000 per consultation; co-payment of 10% &amp; 4 Physical Consultations with 14 specified specialists max 2000 per consultation; co-payment of 5%</a:t>
          </a:r>
          <a:endParaRPr lang="en-IN" sz="500" kern="1200" dirty="0">
            <a:latin typeface="+mj-lt"/>
          </a:endParaRPr>
        </a:p>
      </dsp:txBody>
      <dsp:txXfrm>
        <a:off x="3607439" y="1780281"/>
        <a:ext cx="1461089" cy="379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7770B-F298-47FC-9EA4-44CA48CF429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DE1C3-A174-4F67-8A3B-C1FA29BE53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709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DE1C3-A174-4F67-8A3B-C1FA29BE533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40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078" y="1006528"/>
            <a:ext cx="4896882" cy="694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4156" y="1836050"/>
            <a:ext cx="4032727" cy="8280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40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2" y="2082057"/>
            <a:ext cx="4896882" cy="643517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082" y="1373288"/>
            <a:ext cx="4896882" cy="708769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07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050" y="827956"/>
            <a:ext cx="2339445" cy="191110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91321" y="827956"/>
            <a:ext cx="2337470" cy="191110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03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52" y="129754"/>
            <a:ext cx="5184934" cy="54001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52" y="725270"/>
            <a:ext cx="2545459" cy="30225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52" y="1027528"/>
            <a:ext cx="2545459" cy="1866801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26528" y="725270"/>
            <a:ext cx="2546459" cy="30225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26528" y="1027528"/>
            <a:ext cx="2546459" cy="1866801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88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506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4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52" y="129003"/>
            <a:ext cx="1895342" cy="549015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406" y="129004"/>
            <a:ext cx="3220580" cy="27653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8052" y="678019"/>
            <a:ext cx="1895342" cy="2216310"/>
          </a:xfrm>
        </p:spPr>
        <p:txBody>
          <a:bodyPr/>
          <a:lstStyle>
            <a:lvl1pPr marL="0" indent="0">
              <a:buNone/>
              <a:defRPr sz="800"/>
            </a:lvl1pPr>
            <a:lvl2pPr marL="257175" indent="0">
              <a:buNone/>
              <a:defRPr sz="700"/>
            </a:lvl2pPr>
            <a:lvl3pPr marL="514350" indent="0">
              <a:buNone/>
              <a:defRPr sz="600"/>
            </a:lvl3pPr>
            <a:lvl4pPr marL="771525" indent="0">
              <a:buNone/>
              <a:defRPr sz="500"/>
            </a:lvl4pPr>
            <a:lvl5pPr marL="1028700" indent="0">
              <a:buNone/>
              <a:defRPr sz="500"/>
            </a:lvl5pPr>
            <a:lvl6pPr marL="1285875" indent="0">
              <a:buNone/>
              <a:defRPr sz="500"/>
            </a:lvl6pPr>
            <a:lvl7pPr marL="1543050" indent="0">
              <a:buNone/>
              <a:defRPr sz="500"/>
            </a:lvl7pPr>
            <a:lvl8pPr marL="1800225" indent="0">
              <a:buNone/>
              <a:defRPr sz="500"/>
            </a:lvl8pPr>
            <a:lvl9pPr marL="205740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86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204" y="2268061"/>
            <a:ext cx="3456623" cy="267758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29204" y="289508"/>
            <a:ext cx="3456623" cy="1944053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9204" y="2535819"/>
            <a:ext cx="3456623" cy="380260"/>
          </a:xfrm>
        </p:spPr>
        <p:txBody>
          <a:bodyPr/>
          <a:lstStyle>
            <a:lvl1pPr marL="0" indent="0">
              <a:buNone/>
              <a:defRPr sz="800"/>
            </a:lvl1pPr>
            <a:lvl2pPr marL="257175" indent="0">
              <a:buNone/>
              <a:defRPr sz="700"/>
            </a:lvl2pPr>
            <a:lvl3pPr marL="514350" indent="0">
              <a:buNone/>
              <a:defRPr sz="600"/>
            </a:lvl3pPr>
            <a:lvl4pPr marL="771525" indent="0">
              <a:buNone/>
              <a:defRPr sz="500"/>
            </a:lvl4pPr>
            <a:lvl5pPr marL="1028700" indent="0">
              <a:buNone/>
              <a:defRPr sz="500"/>
            </a:lvl5pPr>
            <a:lvl6pPr marL="1285875" indent="0">
              <a:buNone/>
              <a:defRPr sz="500"/>
            </a:lvl6pPr>
            <a:lvl7pPr marL="1543050" indent="0">
              <a:buNone/>
              <a:defRPr sz="500"/>
            </a:lvl7pPr>
            <a:lvl8pPr marL="1800225" indent="0">
              <a:buNone/>
              <a:defRPr sz="500"/>
            </a:lvl8pPr>
            <a:lvl9pPr marL="205740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13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6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32474" y="61502"/>
            <a:ext cx="816147" cy="130578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1033" y="61502"/>
            <a:ext cx="2355424" cy="130578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52" y="129754"/>
            <a:ext cx="5184934" cy="540015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52" y="756021"/>
            <a:ext cx="5184934" cy="2138308"/>
          </a:xfrm>
          <a:prstGeom prst="rect">
            <a:avLst/>
          </a:prstGeom>
        </p:spPr>
        <p:txBody>
          <a:bodyPr vert="horz" lIns="51435" tIns="25718" rIns="51435" bIns="2571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8052" y="3003082"/>
            <a:ext cx="1344242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1D4FE-B1CE-4721-A501-620720B316F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355" y="3003082"/>
            <a:ext cx="1824329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28744" y="3003082"/>
            <a:ext cx="1344242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9EAD7-28C2-49F1-8FE0-C16EE9BE0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59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350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09" indent="-160734" algn="l" defTabSz="51435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" y="3079"/>
            <a:ext cx="5755298" cy="3233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415769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93544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" y="3079"/>
            <a:ext cx="5755298" cy="32339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26144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" y="1524"/>
            <a:ext cx="5760833" cy="3237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48631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9" y="302815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8471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99576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" y="3352"/>
            <a:ext cx="5748912" cy="32333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72655" y="3060785"/>
            <a:ext cx="1584176" cy="186783"/>
          </a:xfrm>
          <a:prstGeom prst="rect">
            <a:avLst/>
          </a:prstGeom>
          <a:noFill/>
        </p:spPr>
        <p:txBody>
          <a:bodyPr wrap="square" lIns="91406" tIns="45702" rIns="91406" bIns="45702" rtlCol="0">
            <a:spAutoFit/>
          </a:bodyPr>
          <a:lstStyle/>
          <a:p>
            <a:pPr algn="r"/>
            <a:r>
              <a:rPr lang="en-IN" sz="600" dirty="0"/>
              <a:t>For internal circulation only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4215" y="917278"/>
            <a:ext cx="5184576" cy="192690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b="1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Cumulative Bonus Booster</a:t>
            </a:r>
          </a:p>
          <a:p>
            <a:endParaRPr lang="en-US" sz="1200" dirty="0">
              <a:latin typeface="Calibri Light" pitchFamily="34" charset="0"/>
              <a:cs typeface="Calibri Light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alibri Light" pitchFamily="34" charset="0"/>
                <a:cs typeface="Calibri Light" pitchFamily="34" charset="0"/>
              </a:rPr>
              <a:t>Enjoy unlimited 100% cumulative bonus of your Sum Insured every year, even if you claim</a:t>
            </a:r>
            <a:r>
              <a:rPr lang="en-US" sz="1600" dirty="0" smtClean="0">
                <a:solidFill>
                  <a:schemeClr val="tx1"/>
                </a:solidFill>
                <a:latin typeface="Calibri Light" pitchFamily="34" charset="0"/>
                <a:cs typeface="Calibri Light" pitchFamily="34" charset="0"/>
              </a:rPr>
              <a:t>.</a:t>
            </a:r>
            <a:endParaRPr lang="en-US" sz="1200" dirty="0">
              <a:solidFill>
                <a:schemeClr val="tx1"/>
              </a:solidFill>
              <a:latin typeface="Calibri Light" pitchFamily="34" charset="0"/>
              <a:cs typeface="Calibri Light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2247" y="3058196"/>
            <a:ext cx="2879725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500" dirty="0" smtClean="0"/>
              <a:t>Note : CB Booster is </a:t>
            </a:r>
            <a:r>
              <a:rPr lang="en-US" sz="500" dirty="0"/>
              <a:t>provided under Add-on policy Care Advanced</a:t>
            </a:r>
            <a:endParaRPr lang="en-IN" sz="500" dirty="0"/>
          </a:p>
        </p:txBody>
      </p:sp>
    </p:spTree>
    <p:extLst>
      <p:ext uri="{BB962C8B-B14F-4D97-AF65-F5344CB8AC3E}">
        <p14:creationId xmlns:p14="http://schemas.microsoft.com/office/powerpoint/2010/main" val="245894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72655" y="3076173"/>
            <a:ext cx="158417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700" dirty="0" smtClean="0"/>
              <a:t>For internal circulation only</a:t>
            </a:r>
            <a:endParaRPr lang="en-IN" sz="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" y="4634"/>
            <a:ext cx="5755299" cy="32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" y="4872"/>
            <a:ext cx="5748912" cy="323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0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" y="3352"/>
            <a:ext cx="5748912" cy="32333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72655" y="3060785"/>
            <a:ext cx="1584176" cy="186783"/>
          </a:xfrm>
          <a:prstGeom prst="rect">
            <a:avLst/>
          </a:prstGeom>
          <a:noFill/>
        </p:spPr>
        <p:txBody>
          <a:bodyPr wrap="square" lIns="91406" tIns="45702" rIns="91406" bIns="45702" rtlCol="0">
            <a:spAutoFit/>
          </a:bodyPr>
          <a:lstStyle/>
          <a:p>
            <a:pPr algn="r"/>
            <a:r>
              <a:rPr lang="en-IN" sz="600" dirty="0"/>
              <a:t>For internal circulation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098" y="899964"/>
            <a:ext cx="4392488" cy="1224136"/>
          </a:xfrm>
          <a:prstGeom prst="roundRect">
            <a:avLst>
              <a:gd name="adj" fmla="val 36657"/>
            </a:avLst>
          </a:prstGeom>
          <a:solidFill>
            <a:srgbClr val="FADF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6" tIns="45702" rIns="91406" bIns="45702" rtlCol="0" anchor="ctr"/>
          <a:lstStyle/>
          <a:p>
            <a:pPr algn="ctr"/>
            <a:endParaRPr lang="en-IN"/>
          </a:p>
        </p:txBody>
      </p:sp>
      <p:sp>
        <p:nvSpPr>
          <p:cNvPr id="8" name="Content Placeholder 4"/>
          <p:cNvSpPr>
            <a:spLocks noGrp="1"/>
          </p:cNvSpPr>
          <p:nvPr>
            <p:ph sz="half" idx="4294967295"/>
          </p:nvPr>
        </p:nvSpPr>
        <p:spPr>
          <a:xfrm>
            <a:off x="216223" y="683940"/>
            <a:ext cx="4464496" cy="149126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UNLIMITED CARE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allows ONE </a:t>
            </a:r>
            <a:r>
              <a:rPr lang="en-US" sz="4000" b="1" dirty="0">
                <a:solidFill>
                  <a:schemeClr val="accent1"/>
                </a:solidFill>
              </a:rPr>
              <a:t>BIG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CLAIM in entire policy lifetime to be paid irrespective of coverage amount in the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629" y="2412133"/>
            <a:ext cx="5440194" cy="830960"/>
          </a:xfrm>
          <a:prstGeom prst="rect">
            <a:avLst/>
          </a:prstGeom>
          <a:noFill/>
        </p:spPr>
        <p:txBody>
          <a:bodyPr wrap="square" lIns="91406" tIns="45702" rIns="91406" bIns="45702" rtlCol="0">
            <a:spAutoFit/>
          </a:bodyPr>
          <a:lstStyle/>
          <a:p>
            <a:r>
              <a:rPr lang="en-US" sz="600" dirty="0">
                <a:latin typeface="Calibri Light" pitchFamily="34" charset="0"/>
                <a:cs typeface="Calibri Light" pitchFamily="34" charset="0"/>
              </a:rPr>
              <a:t>Note : </a:t>
            </a: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This benefit can be opted only at the inception of the policy irrespective of the policy tenure</a:t>
            </a: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Once opted in policy Unlimited care can only be removed after 5 years </a:t>
            </a: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Once a claim is made under this benefit, the cover shall cease and not be available for re-selection during the subsequent renewal</a:t>
            </a: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Only one claim is allowed in policy lifetime irrespective of no. of insured members in policy</a:t>
            </a: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This benefit will get triggered after the utilization of Base Sum Insured, </a:t>
            </a:r>
            <a:r>
              <a:rPr lang="en-US" sz="600" dirty="0" smtClean="0">
                <a:latin typeface="Calibri Light" pitchFamily="34" charset="0"/>
                <a:cs typeface="Calibri Light" pitchFamily="34" charset="0"/>
              </a:rPr>
              <a:t>Cumulative Bonus</a:t>
            </a:r>
            <a:r>
              <a:rPr lang="en-US" sz="600" dirty="0">
                <a:latin typeface="Calibri Light" pitchFamily="34" charset="0"/>
                <a:cs typeface="Calibri Light" pitchFamily="34" charset="0"/>
              </a:rPr>
              <a:t> </a:t>
            </a:r>
            <a:r>
              <a:rPr lang="en-US" sz="600" dirty="0" smtClean="0">
                <a:latin typeface="Calibri Light" pitchFamily="34" charset="0"/>
                <a:cs typeface="Calibri Light" pitchFamily="34" charset="0"/>
              </a:rPr>
              <a:t>and Cumulative Bonus Super or Cumulative Bonus Booster</a:t>
            </a:r>
            <a:endParaRPr lang="en-US" sz="600" dirty="0">
              <a:latin typeface="Calibri Light" pitchFamily="34" charset="0"/>
              <a:cs typeface="Calibri Light" pitchFamily="34" charset="0"/>
            </a:endParaRP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Claim filled under this benefit has to be accepted and approved by the company</a:t>
            </a:r>
            <a:r>
              <a:rPr lang="en-US" sz="600" dirty="0" smtClean="0">
                <a:latin typeface="Calibri Light" pitchFamily="34" charset="0"/>
                <a:cs typeface="Calibri Light" pitchFamily="34" charset="0"/>
              </a:rPr>
              <a:t>.</a:t>
            </a:r>
          </a:p>
          <a:p>
            <a:pPr marL="171384" indent="-171384">
              <a:buFont typeface="Arial" panose="020B0604020202020204" pitchFamily="34" charset="0"/>
              <a:buChar char="•"/>
            </a:pPr>
            <a:r>
              <a:rPr lang="en-US" sz="600" dirty="0" smtClean="0">
                <a:latin typeface="Calibri Light" pitchFamily="34" charset="0"/>
                <a:cs typeface="Calibri Light" pitchFamily="34" charset="0"/>
              </a:rPr>
              <a:t>Unlimited Care is </a:t>
            </a:r>
            <a:r>
              <a:rPr lang="en-US" sz="600" dirty="0">
                <a:latin typeface="Calibri Light" pitchFamily="34" charset="0"/>
                <a:cs typeface="Calibri Light" pitchFamily="34" charset="0"/>
              </a:rPr>
              <a:t>provided under Add-on policy </a:t>
            </a:r>
            <a:r>
              <a:rPr lang="en-US" sz="600" dirty="0" smtClean="0">
                <a:latin typeface="Calibri Light" pitchFamily="34" charset="0"/>
                <a:cs typeface="Calibri Light" pitchFamily="34" charset="0"/>
              </a:rPr>
              <a:t>Care Advanced</a:t>
            </a:r>
            <a:endParaRPr lang="en-IN" sz="600" dirty="0">
              <a:latin typeface="Calibri Light" pitchFamily="34" charset="0"/>
              <a:cs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5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\Umesh Kumar\Product PPT\Updated\PPT TEMPLAT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8"/>
            <a:ext cx="5761038" cy="324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7025" y="683940"/>
            <a:ext cx="1579358" cy="319623"/>
          </a:xfrm>
        </p:spPr>
        <p:txBody>
          <a:bodyPr>
            <a:noAutofit/>
          </a:bodyPr>
          <a:lstStyle/>
          <a:p>
            <a:r>
              <a:rPr lang="en-US" sz="1300" b="1" dirty="0" smtClean="0">
                <a:latin typeface="+mn-lt"/>
              </a:rPr>
              <a:t>OPD Coverage</a:t>
            </a:r>
            <a:endParaRPr lang="en-IN" sz="1300" b="1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305" y="971972"/>
            <a:ext cx="5575468" cy="966976"/>
          </a:xfrm>
          <a:prstGeom prst="rect">
            <a:avLst/>
          </a:prstGeom>
        </p:spPr>
        <p:txBody>
          <a:bodyPr wrap="square" lIns="43224" tIns="21612" rIns="43224" bIns="21612">
            <a:spAutoFit/>
          </a:bodyPr>
          <a:lstStyle/>
          <a:p>
            <a:r>
              <a:rPr lang="en-US" sz="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CARE </a:t>
            </a:r>
            <a:r>
              <a:rPr lang="en-US" sz="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OPD</a:t>
            </a:r>
          </a:p>
          <a:p>
            <a:pPr marL="189104" indent="-189104">
              <a:buFont typeface="Wingdings" pitchFamily="2" charset="2"/>
              <a:buChar char="§"/>
            </a:pP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Each insured is eligible for 4 Physical Consultations from a General Physician in a Year. Max. Rs.500/- will be reimbursed  per consultation</a:t>
            </a:r>
          </a:p>
          <a:p>
            <a:pPr marL="189104" indent="-189104">
              <a:buFont typeface="Wingdings" pitchFamily="2" charset="2"/>
              <a:buChar char="§"/>
            </a:pP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Each </a:t>
            </a: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insured is eligible for 4 Physical Consultation from 14 Specified Specialists( List Given Below) in a Year. Max. Rs.500/- will be reimbursed  per </a:t>
            </a: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consultation</a:t>
            </a:r>
            <a:endParaRPr lang="en-US" sz="8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89104" indent="-189104">
              <a:buFont typeface="Wingdings" pitchFamily="2" charset="2"/>
              <a:buChar char="§"/>
            </a:pPr>
            <a:endParaRPr lang="en-US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8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Care OPD Plus</a:t>
            </a:r>
          </a:p>
          <a:p>
            <a:pPr marL="189104" indent="-189104">
              <a:buFont typeface="Wingdings" pitchFamily="2" charset="2"/>
              <a:buChar char="§"/>
            </a:pP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Each insured is eligible for 4 Physical Consultations from a General Physician in a Year. Max. </a:t>
            </a: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Rs.1000</a:t>
            </a: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/- </a:t>
            </a: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with co-payment of 10% will </a:t>
            </a: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be reimbursed  per consultation</a:t>
            </a:r>
          </a:p>
          <a:p>
            <a:pPr marL="189104" indent="-189104">
              <a:buFont typeface="Wingdings" pitchFamily="2" charset="2"/>
              <a:buChar char="§"/>
            </a:pP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Each insured is eligible for 4 Physical Consultation from 14 Specified Specialists( List Given Below) in a Year. Max. </a:t>
            </a: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Rs.2000</a:t>
            </a: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/- </a:t>
            </a: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with co-payment of 5% will </a:t>
            </a:r>
            <a:r>
              <a:rPr lang="en-US" sz="600" dirty="0">
                <a:latin typeface="Calibri Light" panose="020F0302020204030204" pitchFamily="34" charset="0"/>
                <a:cs typeface="Calibri Light" panose="020F0302020204030204" pitchFamily="34" charset="0"/>
              </a:rPr>
              <a:t>be reimbursed  per </a:t>
            </a:r>
            <a:r>
              <a:rPr lang="en-US" sz="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consultation</a:t>
            </a:r>
          </a:p>
          <a:p>
            <a:pPr marL="189104" indent="-189104">
              <a:buFont typeface="Wingdings" pitchFamily="2" charset="2"/>
              <a:buChar char="§"/>
            </a:pPr>
            <a:r>
              <a:rPr lang="en-US" sz="600" dirty="0">
                <a:latin typeface="Calibri Light" pitchFamily="34" charset="0"/>
                <a:cs typeface="Calibri Light" pitchFamily="34" charset="0"/>
              </a:rPr>
              <a:t>Unlimited Online Fitness Session in our Mobile </a:t>
            </a:r>
            <a:r>
              <a:rPr lang="en-US" sz="600" dirty="0" smtClean="0">
                <a:latin typeface="Calibri Light" pitchFamily="34" charset="0"/>
                <a:cs typeface="Calibri Light" pitchFamily="34" charset="0"/>
              </a:rPr>
              <a:t>Application</a:t>
            </a:r>
            <a:endParaRPr lang="en-US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687093"/>
              </p:ext>
            </p:extLst>
          </p:nvPr>
        </p:nvGraphicFramePr>
        <p:xfrm>
          <a:off x="432247" y="2124100"/>
          <a:ext cx="2952328" cy="107611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34578"/>
                <a:gridCol w="1417750"/>
              </a:tblGrid>
              <a:tr h="211785"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List of Specialist Doctors for Physical Consultations</a:t>
                      </a:r>
                      <a:endParaRPr lang="en-IN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45" marR="45445" marT="21601" marB="216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6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Pediatrician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Psychiatrist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  <a:latin typeface="+mj-lt"/>
                          <a:ea typeface="Times New Roman"/>
                          <a:cs typeface="Calibri"/>
                        </a:rPr>
                        <a:t>Obstetrics and </a:t>
                      </a: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Gynecologist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Cardiologist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  <a:latin typeface="+mj-lt"/>
                          <a:ea typeface="Times New Roman"/>
                          <a:cs typeface="Calibri"/>
                        </a:rPr>
                        <a:t>Homeopathic </a:t>
                      </a: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Physician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Neurologist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Dietician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  <a:latin typeface="+mj-lt"/>
                          <a:ea typeface="Times New Roman"/>
                          <a:cs typeface="Calibri"/>
                        </a:rPr>
                        <a:t>Orthopedic </a:t>
                      </a: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Surgeon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err="1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Diabetologist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Nephrologist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Dermatologist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  <a:latin typeface="+mj-lt"/>
                          <a:ea typeface="Times New Roman"/>
                          <a:cs typeface="Calibri"/>
                        </a:rPr>
                        <a:t>ENT </a:t>
                      </a: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Specialist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effectLst/>
                          <a:latin typeface="+mj-lt"/>
                          <a:ea typeface="Times New Roman"/>
                          <a:cs typeface="Calibri"/>
                        </a:rPr>
                        <a:t>Pulmonologist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  <a:latin typeface="+mj-lt"/>
                          <a:ea typeface="Times New Roman"/>
                          <a:cs typeface="Calibri"/>
                        </a:rPr>
                        <a:t>Gastroenterologist</a:t>
                      </a:r>
                      <a:endParaRPr lang="en-IN" sz="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4083" marR="340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88631" y="3068228"/>
            <a:ext cx="1743142" cy="119964"/>
          </a:xfrm>
          <a:prstGeom prst="rect">
            <a:avLst/>
          </a:prstGeom>
          <a:noFill/>
        </p:spPr>
        <p:txBody>
          <a:bodyPr wrap="none" lIns="43224" tIns="21612" rIns="43224" bIns="21612" rtlCol="0" anchor="ctr">
            <a:spAutoFit/>
          </a:bodyPr>
          <a:lstStyle/>
          <a:p>
            <a:r>
              <a:rPr lang="en-US" sz="500" dirty="0"/>
              <a:t>Note : OPD coverage is provided under Add-on policy CARE OPD</a:t>
            </a:r>
            <a:endParaRPr lang="en-IN" sz="500" dirty="0"/>
          </a:p>
        </p:txBody>
      </p:sp>
    </p:spTree>
    <p:extLst>
      <p:ext uri="{BB962C8B-B14F-4D97-AF65-F5344CB8AC3E}">
        <p14:creationId xmlns:p14="http://schemas.microsoft.com/office/powerpoint/2010/main" val="311677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7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" y="3079"/>
            <a:ext cx="5755298" cy="32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2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72655" y="2988196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" y="1192"/>
            <a:ext cx="5756587" cy="32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2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3078"/>
            <a:ext cx="5755300" cy="32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pic>
        <p:nvPicPr>
          <p:cNvPr id="1026" name="Picture 2" descr="D:\ashish\PRODUCT\PPT\car supreme Befit\Jpegs\ppt slides-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5761038" cy="32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4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" y="1556"/>
            <a:ext cx="5755298" cy="3236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72655" y="3024612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00" dirty="0" smtClean="0"/>
              <a:t>For internal circulation only</a:t>
            </a:r>
            <a:endParaRPr lang="en-IN" sz="800" dirty="0"/>
          </a:p>
        </p:txBody>
      </p:sp>
      <p:graphicFrame>
        <p:nvGraphicFramePr>
          <p:cNvPr id="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298467"/>
              </p:ext>
            </p:extLst>
          </p:nvPr>
        </p:nvGraphicFramePr>
        <p:xfrm>
          <a:off x="144215" y="899964"/>
          <a:ext cx="5472608" cy="2090166"/>
        </p:xfrm>
        <a:graphic>
          <a:graphicData uri="http://schemas.openxmlformats.org/drawingml/2006/table">
            <a:tbl>
              <a:tblPr firstRow="1" firstCol="1" bandRow="1" bandCol="1">
                <a:tableStyleId>{69012ECD-51FC-41F1-AA8D-1B2483CD663E}</a:tableStyleId>
              </a:tblPr>
              <a:tblGrid>
                <a:gridCol w="2016224"/>
                <a:gridCol w="3456384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Benefit</a:t>
                      </a:r>
                      <a:r>
                        <a:rPr lang="en-US" sz="700" baseline="0" dirty="0" smtClean="0">
                          <a:ln>
                            <a:noFill/>
                          </a:ln>
                          <a:effectLst/>
                        </a:rPr>
                        <a:t> Name</a:t>
                      </a:r>
                      <a:endParaRPr lang="en-IN" sz="7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Coverage</a:t>
                      </a: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n-IN" sz="7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SI Options(</a:t>
                      </a:r>
                      <a:r>
                        <a:rPr lang="en-US" sz="700" baseline="0" dirty="0" smtClean="0">
                          <a:ln>
                            <a:noFill/>
                          </a:ln>
                          <a:effectLst/>
                        </a:rPr>
                        <a:t> Including PLUS BENEFIT amount)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kern="1200" dirty="0" smtClean="0">
                          <a:ln>
                            <a:noFill/>
                          </a:ln>
                          <a:effectLst/>
                        </a:rPr>
                        <a:t>7L/10L/15L/25L/50L &amp; 1 Cr</a:t>
                      </a:r>
                      <a:endParaRPr lang="en-IN" sz="800" dirty="0" smtClean="0">
                        <a:ln>
                          <a:noFill/>
                        </a:ln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  <a:tabLst>
                          <a:tab pos="1141095" algn="l"/>
                          <a:tab pos="1445895" algn="l"/>
                        </a:tabLs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Room Rent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41095" algn="l"/>
                          <a:tab pos="1445895" algn="l"/>
                        </a:tabLs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All Category Rooms Allowed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  <a:tabLst>
                          <a:tab pos="1141095" algn="l"/>
                          <a:tab pos="1445895" algn="l"/>
                        </a:tabLs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ICU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41095" algn="l"/>
                          <a:tab pos="1445895" algn="l"/>
                        </a:tabLst>
                      </a:pP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No Limit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In-Patient Care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Up to SI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Day Care Treatment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All Day Care Procedures </a:t>
                      </a: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; Up to SI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  <a:tabLst>
                          <a:tab pos="1141095" algn="l"/>
                          <a:tab pos="1445895" algn="l"/>
                        </a:tabLs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Advance Technology Methods 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41095" algn="l"/>
                          <a:tab pos="1445895" algn="l"/>
                        </a:tabLs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Up to SI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Pre-Hospitalization Medical Expenses 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Up to SI, </a:t>
                      </a: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up to</a:t>
                      </a:r>
                      <a:r>
                        <a:rPr lang="en-US" sz="70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60 </a:t>
                      </a: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days prior to hospitalization  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Post Hospitalization Medical Expenses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Up to SI, </a:t>
                      </a: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up to</a:t>
                      </a:r>
                      <a:r>
                        <a:rPr lang="en-US" sz="70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sz="700" dirty="0" smtClean="0">
                          <a:ln>
                            <a:noFill/>
                          </a:ln>
                          <a:effectLst/>
                        </a:rPr>
                        <a:t>180 </a:t>
                      </a: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days after discharge 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AYUSH Treatment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Up </a:t>
                      </a: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to SI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Domiciliary Hospitalization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Up to SI 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Calibri"/>
                        <a:buNone/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Organ Donor Cover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Up to SI 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defTabSz="288000"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effectLst/>
                        </a:rPr>
                        <a:t>Road Ambulance Cover</a:t>
                      </a:r>
                      <a:endParaRPr lang="en-IN" sz="7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 defTabSz="288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700" dirty="0" smtClean="0">
                          <a:effectLst/>
                        </a:rPr>
                        <a:t>Up to Rs.10,000</a:t>
                      </a:r>
                      <a:r>
                        <a:rPr lang="en-GB" sz="700" baseline="0" dirty="0" smtClean="0">
                          <a:effectLst/>
                        </a:rPr>
                        <a:t> per year for SI&lt;15 Lacs, Up to SI for SI&gt;=15 Lacs</a:t>
                      </a:r>
                      <a:endParaRPr lang="en-IN" sz="7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Cumulative Bonus  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 defTabSz="288000">
                        <a:spcAft>
                          <a:spcPts val="0"/>
                        </a:spcAft>
                      </a:pPr>
                      <a:r>
                        <a:rPr lang="en-GB" sz="700" dirty="0" smtClean="0">
                          <a:effectLst/>
                        </a:rPr>
                        <a:t>50% of SI per year, max up to 100% of SI; Claim will not reduce Bonus Accrued</a:t>
                      </a:r>
                      <a:endParaRPr lang="en-IN" sz="7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Unlimited Automatic Recharge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Available for unlimited times for unrelated or same illness</a:t>
                      </a: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Unlimited E-Consultations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Available for Consultations with General Physicians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700" dirty="0">
                          <a:ln>
                            <a:noFill/>
                          </a:ln>
                          <a:effectLst/>
                        </a:rPr>
                        <a:t>Health Services</a:t>
                      </a:r>
                      <a:endParaRPr lang="en-IN" sz="700" dirty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Discounts </a:t>
                      </a:r>
                      <a:r>
                        <a:rPr lang="en-GB" sz="700" baseline="0" dirty="0" smtClean="0">
                          <a:ln>
                            <a:noFill/>
                          </a:ln>
                          <a:effectLst/>
                        </a:rPr>
                        <a:t> Vouchers </a:t>
                      </a: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on  </a:t>
                      </a:r>
                      <a:r>
                        <a:rPr lang="en-GB" sz="700" dirty="0">
                          <a:ln>
                            <a:noFill/>
                          </a:ln>
                          <a:effectLst/>
                        </a:rPr>
                        <a:t>consultations, diagnostics, </a:t>
                      </a:r>
                      <a:r>
                        <a:rPr lang="en-GB" sz="700" dirty="0" err="1" smtClean="0">
                          <a:ln>
                            <a:noFill/>
                          </a:ln>
                          <a:effectLst/>
                        </a:rPr>
                        <a:t>etc</a:t>
                      </a: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  available on our Mobile App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Discount Connect – Discounts on services such as consultations, diagnostics, maternity </a:t>
                      </a:r>
                      <a:r>
                        <a:rPr lang="en-GB" sz="700" dirty="0" err="1" smtClean="0">
                          <a:ln>
                            <a:noFill/>
                          </a:ln>
                          <a:effectLst/>
                        </a:rPr>
                        <a:t>etc</a:t>
                      </a: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 .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700" dirty="0" smtClean="0">
                          <a:ln>
                            <a:noFill/>
                          </a:ln>
                          <a:effectLst/>
                        </a:rPr>
                        <a:t>at our network. </a:t>
                      </a:r>
                      <a:endParaRPr lang="en-IN" sz="700" dirty="0" smtClean="0">
                        <a:ln>
                          <a:noFill/>
                        </a:ln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811" marR="2381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95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" y="3352"/>
            <a:ext cx="5748912" cy="32333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72655" y="3060784"/>
            <a:ext cx="15841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600" dirty="0" smtClean="0"/>
              <a:t>For internal circulation only</a:t>
            </a:r>
            <a:endParaRPr lang="en-IN" sz="600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601204988"/>
              </p:ext>
            </p:extLst>
          </p:nvPr>
        </p:nvGraphicFramePr>
        <p:xfrm>
          <a:off x="247031" y="683940"/>
          <a:ext cx="5081760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44215" y="2844180"/>
            <a:ext cx="52565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All the above mentioned benefits are Optional or Mandate as per sales preposition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Instant Cover benefit applicable for Hypertension, Diabetes, Hyperlipidemia or Asthma are declared as PED in Policy; Instant Cover Plus </a:t>
            </a:r>
            <a:r>
              <a:rPr lang="en-US" sz="400" dirty="0">
                <a:latin typeface="Calibri Light" pitchFamily="34" charset="0"/>
                <a:cs typeface="Calibri Light" pitchFamily="34" charset="0"/>
              </a:rPr>
              <a:t>benefit applicable for Hypertension, Diabetes, </a:t>
            </a: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Hyperlipidemia, Asthma, COPD, Obesity or PTCA done prior to one year are </a:t>
            </a:r>
            <a:r>
              <a:rPr lang="en-US" sz="400" dirty="0">
                <a:latin typeface="Calibri Light" pitchFamily="34" charset="0"/>
                <a:cs typeface="Calibri Light" pitchFamily="34" charset="0"/>
              </a:rPr>
              <a:t>declared as PED in </a:t>
            </a: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Policy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Customer </a:t>
            </a:r>
            <a:r>
              <a:rPr lang="en-US" sz="400" dirty="0">
                <a:latin typeface="Calibri Light" pitchFamily="34" charset="0"/>
                <a:cs typeface="Calibri Light" pitchFamily="34" charset="0"/>
              </a:rPr>
              <a:t>can opt either </a:t>
            </a: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of the add-ons: Claim Shield or Claim Shield +, CB Super or CB Booster, Instant Cover or Instant Cover Plus or PED </a:t>
            </a:r>
            <a:r>
              <a:rPr lang="en-US" sz="400" dirty="0">
                <a:latin typeface="Calibri Light" pitchFamily="34" charset="0"/>
                <a:cs typeface="Calibri Light" pitchFamily="34" charset="0"/>
              </a:rPr>
              <a:t>Wait Period </a:t>
            </a: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Modification , Care OPD or Care OPD Plus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Instant Cover Plus, CB Booster, Unlimited Care &amp; Care Shield Plus are </a:t>
            </a:r>
            <a:r>
              <a:rPr lang="en-US" sz="400" dirty="0">
                <a:latin typeface="Calibri Light" pitchFamily="34" charset="0"/>
                <a:cs typeface="Calibri Light" pitchFamily="34" charset="0"/>
              </a:rPr>
              <a:t>provided under Add-on policy </a:t>
            </a:r>
            <a:r>
              <a:rPr lang="en-US" sz="400" dirty="0" smtClean="0">
                <a:latin typeface="Calibri Light" pitchFamily="34" charset="0"/>
                <a:cs typeface="Calibri Light" pitchFamily="34" charset="0"/>
              </a:rPr>
              <a:t>Care Advanced</a:t>
            </a:r>
            <a:endParaRPr lang="en-IN" sz="400" dirty="0">
              <a:latin typeface="Calibri Light" pitchFamily="34" charset="0"/>
              <a:cs typeface="Calibri Light" pitchFamily="34" charset="0"/>
            </a:endParaRPr>
          </a:p>
          <a:p>
            <a:endParaRPr lang="en-US" sz="700" dirty="0">
              <a:latin typeface="Calibri Light" pitchFamily="34" charset="0"/>
              <a:cs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43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" y="3352"/>
            <a:ext cx="5748912" cy="3233382"/>
          </a:xfrm>
          <a:prstGeom prst="rect">
            <a:avLst/>
          </a:prstGeom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177425"/>
              </p:ext>
            </p:extLst>
          </p:nvPr>
        </p:nvGraphicFramePr>
        <p:xfrm>
          <a:off x="144215" y="1260004"/>
          <a:ext cx="5472608" cy="18425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4203"/>
                <a:gridCol w="3648405"/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Age of </a:t>
                      </a:r>
                      <a:r>
                        <a:rPr lang="en-US" sz="650" dirty="0" smtClean="0">
                          <a:effectLst/>
                        </a:rPr>
                        <a:t>Proposer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650" dirty="0">
                          <a:effectLst/>
                        </a:rPr>
                        <a:t>18 years or above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Entry Age – Minimum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650" dirty="0" smtClean="0">
                          <a:effectLst/>
                        </a:rPr>
                        <a:t>Adult </a:t>
                      </a:r>
                      <a:r>
                        <a:rPr lang="en-US" sz="650" dirty="0">
                          <a:effectLst/>
                        </a:rPr>
                        <a:t>: 18 </a:t>
                      </a:r>
                      <a:r>
                        <a:rPr lang="en-US" sz="650" dirty="0" smtClean="0">
                          <a:effectLst/>
                        </a:rPr>
                        <a:t>years; Child </a:t>
                      </a:r>
                      <a:r>
                        <a:rPr lang="en-US" sz="650" dirty="0">
                          <a:effectLst/>
                        </a:rPr>
                        <a:t>: </a:t>
                      </a:r>
                      <a:r>
                        <a:rPr lang="en-US" sz="650" baseline="0" dirty="0" smtClean="0">
                          <a:effectLst/>
                        </a:rPr>
                        <a:t>91 Days (FF)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Entry Age – Maximum 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Adult: </a:t>
                      </a:r>
                      <a:r>
                        <a:rPr lang="en-US" sz="650" dirty="0" smtClean="0">
                          <a:effectLst/>
                        </a:rPr>
                        <a:t>No</a:t>
                      </a:r>
                      <a:r>
                        <a:rPr lang="en-US" sz="650" baseline="0" dirty="0" smtClean="0">
                          <a:effectLst/>
                        </a:rPr>
                        <a:t> Upper Age Limit</a:t>
                      </a:r>
                      <a:r>
                        <a:rPr lang="en-US" sz="650" dirty="0" smtClean="0">
                          <a:effectLst/>
                        </a:rPr>
                        <a:t>; Child</a:t>
                      </a:r>
                      <a:r>
                        <a:rPr lang="en-US" sz="650" dirty="0">
                          <a:effectLst/>
                        </a:rPr>
                        <a:t>: </a:t>
                      </a:r>
                      <a:r>
                        <a:rPr lang="en-US" sz="650" dirty="0" smtClean="0">
                          <a:effectLst/>
                        </a:rPr>
                        <a:t>24 </a:t>
                      </a:r>
                      <a:r>
                        <a:rPr lang="en-US" sz="650" dirty="0">
                          <a:effectLst/>
                        </a:rPr>
                        <a:t>Years 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Exit Age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Adult: </a:t>
                      </a:r>
                      <a:r>
                        <a:rPr lang="en-US" sz="650" dirty="0" smtClean="0">
                          <a:effectLst/>
                        </a:rPr>
                        <a:t>Lifelong; Child</a:t>
                      </a:r>
                      <a:r>
                        <a:rPr lang="en-US" sz="650" dirty="0">
                          <a:effectLst/>
                        </a:rPr>
                        <a:t>: 25 Years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Cover Type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Individual: max up to 6 </a:t>
                      </a:r>
                      <a:r>
                        <a:rPr lang="en-US" sz="650" dirty="0" smtClean="0">
                          <a:effectLst/>
                        </a:rPr>
                        <a:t>persons; Floater</a:t>
                      </a:r>
                      <a:r>
                        <a:rPr lang="en-US" sz="650" dirty="0">
                          <a:effectLst/>
                        </a:rPr>
                        <a:t>: max up to 2A2C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Tenure Options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1/2/3 Years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Pricing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Zone 1 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Delhi NCR, </a:t>
                      </a:r>
                      <a:r>
                        <a:rPr lang="en-US" sz="65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Surat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Mathura, Aligarh</a:t>
                      </a:r>
                      <a:endParaRPr lang="en-IN" sz="65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Zone 2 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  Mumbai (MMR),Rest of Gujarat</a:t>
                      </a:r>
                      <a:r>
                        <a:rPr lang="en-GB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65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Zone 3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 Pune, Indore, </a:t>
                      </a:r>
                      <a:r>
                        <a:rPr lang="en-US" sz="65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Nashik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65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Telangana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endParaRPr lang="en-IN" sz="65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Zone 4</a:t>
                      </a:r>
                      <a:r>
                        <a:rPr lang="en-US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Rest of India.</a:t>
                      </a:r>
                      <a:endParaRPr lang="en-IN" sz="65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Note – </a:t>
                      </a:r>
                    </a:p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Cities above means adjoining cities also</a:t>
                      </a:r>
                    </a:p>
                    <a:p>
                      <a:pPr marL="0" marR="0" indent="0" algn="l" defTabSz="8694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5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Delhi- NCR , Mumbai (MMR), is  as defined by Government</a:t>
                      </a: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Who are covered (Relationship with respect to the Proposer)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Self, spouse/live-in partner/same sex partner, son, daughter, father, mother, mother-in-law, father-in law,  Grand father, grand mother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3375" marR="23375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650" dirty="0">
                          <a:effectLst/>
                        </a:rPr>
                        <a:t>Initial Waiting Period 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30 Days </a:t>
                      </a:r>
                      <a:r>
                        <a:rPr lang="en-US" sz="650" dirty="0" smtClean="0">
                          <a:effectLst/>
                        </a:rPr>
                        <a:t>for all Hospitalization except Accidental Hospitalization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650" dirty="0">
                          <a:effectLst/>
                        </a:rPr>
                        <a:t>Named Ailment Waiting Period 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24 months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650" dirty="0">
                          <a:effectLst/>
                        </a:rPr>
                        <a:t>Pre-Existing Diseases Waiting Period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650" dirty="0" smtClean="0">
                          <a:effectLst/>
                        </a:rPr>
                        <a:t>36 </a:t>
                      </a:r>
                      <a:r>
                        <a:rPr lang="en-US" sz="650" dirty="0">
                          <a:effectLst/>
                        </a:rPr>
                        <a:t>months</a:t>
                      </a:r>
                      <a:endParaRPr lang="en-IN" sz="65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72655" y="3060784"/>
            <a:ext cx="15841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600" dirty="0" smtClean="0"/>
              <a:t>For internal circulation only</a:t>
            </a:r>
            <a:endParaRPr lang="en-IN" sz="6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8737" y="899964"/>
            <a:ext cx="5543565" cy="28803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ctr" defTabSz="514350" rtl="0" eaLnBrk="1" latinLnBrk="0" hangingPunct="1">
              <a:spcBef>
                <a:spcPct val="0"/>
              </a:spcBef>
              <a:buNone/>
              <a:defRPr sz="2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  <a:latin typeface="+mn-lt"/>
              </a:rPr>
              <a:t>BOUNDARY CONDITIONS</a:t>
            </a:r>
            <a:endParaRPr lang="en-IN" sz="20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040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" y="1556"/>
            <a:ext cx="5755300" cy="323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6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18135</TotalTime>
  <Words>995</Words>
  <Application>Microsoft Office PowerPoint</Application>
  <PresentationFormat>Custom</PresentationFormat>
  <Paragraphs>154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OPD Coverage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+</dc:title>
  <dc:creator>Munish Duggal</dc:creator>
  <cp:lastModifiedBy>Yduvir Singh</cp:lastModifiedBy>
  <cp:revision>198</cp:revision>
  <dcterms:created xsi:type="dcterms:W3CDTF">2021-02-11T14:03:33Z</dcterms:created>
  <dcterms:modified xsi:type="dcterms:W3CDTF">2025-07-31T10:09:21Z</dcterms:modified>
</cp:coreProperties>
</file>